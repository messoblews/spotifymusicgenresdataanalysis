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59" r:id="rId6"/>
    <p:sldId id="258" r:id="rId7"/>
    <p:sldId id="264" r:id="rId8"/>
    <p:sldId id="265" r:id="rId9"/>
    <p:sldId id="266" r:id="rId10"/>
    <p:sldId id="262" r:id="rId11"/>
    <p:sldId id="26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127D08E-BC58-44E2-9911-83624FBBF595}" v="913" dt="2024-12-05T16:46:22.330"/>
    <p1510:client id="{6D941C08-652A-418A-B696-D5A3CF1624E7}" v="1" dt="2024-12-04T19:38:18.472"/>
    <p1510:client id="{6E1CCC69-DC92-47B7-8931-F2B9D1E6626F}" v="1" dt="2024-12-05T16:46:40.501"/>
    <p1510:client id="{CC3B573B-2685-2F05-615E-1071CB059361}" v="378" dt="2024-12-05T03:47:18.748"/>
    <p1510:client id="{E8CB3A98-53B2-482E-9F26-D26EB1D4C7D3}" v="12" dt="2024-12-05T03:47:03.7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52" d="100"/>
          <a:sy n="152" d="100"/>
        </p:scale>
        <p:origin x="604"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1"/>
      </p:bgRef>
    </p:bg>
    <p:spTree>
      <p:nvGrpSpPr>
        <p:cNvPr id="1" name=""/>
        <p:cNvGrpSpPr/>
        <p:nvPr/>
      </p:nvGrpSpPr>
      <p:grpSpPr>
        <a:xfrm>
          <a:off x="0" y="0"/>
          <a:ext cx="0" cy="0"/>
          <a:chOff x="0" y="0"/>
          <a:chExt cx="0" cy="0"/>
        </a:xfrm>
      </p:grpSpPr>
      <p:sp>
        <p:nvSpPr>
          <p:cNvPr id="10" name="Freeform 6" title="Page Number Shape">
            <a:extLst>
              <a:ext uri="{FF2B5EF4-FFF2-40B4-BE49-F238E27FC236}">
                <a16:creationId xmlns:a16="http://schemas.microsoft.com/office/drawing/2014/main" id="{DD4C4B28-6B4B-4445-8535-F516D74E4AA9}"/>
              </a:ext>
            </a:extLst>
          </p:cNvPr>
          <p:cNvSpPr/>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cxnSp>
        <p:nvCxnSpPr>
          <p:cNvPr id="12" name="Straight Connector 11" title="Verticle Rule Line">
            <a:extLst>
              <a:ext uri="{FF2B5EF4-FFF2-40B4-BE49-F238E27FC236}">
                <a16:creationId xmlns:a16="http://schemas.microsoft.com/office/drawing/2014/main" id="{0CB1C732-7193-4253-8746-850D090A6B4E}"/>
              </a:ext>
            </a:extLst>
          </p:cNvPr>
          <p:cNvCxnSpPr>
            <a:cxnSpLocks/>
          </p:cNvCxnSpPr>
          <p:nvPr/>
        </p:nvCxnSpPr>
        <p:spPr>
          <a:xfrm>
            <a:off x="758952" y="1280160"/>
            <a:ext cx="0" cy="557784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F03AA199-952B-427F-A5BE-B97D25FD0733}"/>
              </a:ext>
            </a:extLst>
          </p:cNvPr>
          <p:cNvSpPr>
            <a:spLocks noGrp="1"/>
          </p:cNvSpPr>
          <p:nvPr>
            <p:ph type="ctrTitle"/>
          </p:nvPr>
        </p:nvSpPr>
        <p:spPr>
          <a:xfrm>
            <a:off x="1078992" y="1143000"/>
            <a:ext cx="6720840" cy="3730752"/>
          </a:xfrm>
        </p:spPr>
        <p:txBody>
          <a:bodyPr anchor="t">
            <a:normAutofit/>
          </a:bodyPr>
          <a:lstStyle>
            <a:lvl1pPr algn="l">
              <a:defRPr sz="7200" baseline="0"/>
            </a:lvl1pPr>
          </a:lstStyle>
          <a:p>
            <a:r>
              <a:rPr lang="en-US"/>
              <a:t>Click to edit Master title style</a:t>
            </a:r>
          </a:p>
        </p:txBody>
      </p:sp>
      <p:sp>
        <p:nvSpPr>
          <p:cNvPr id="3" name="Subtitle 2">
            <a:extLst>
              <a:ext uri="{FF2B5EF4-FFF2-40B4-BE49-F238E27FC236}">
                <a16:creationId xmlns:a16="http://schemas.microsoft.com/office/drawing/2014/main" id="{6A1AA393-A876-475F-A05B-1CCAB6C1F089}"/>
              </a:ext>
            </a:extLst>
          </p:cNvPr>
          <p:cNvSpPr>
            <a:spLocks noGrp="1"/>
          </p:cNvSpPr>
          <p:nvPr>
            <p:ph type="subTitle" idx="1"/>
          </p:nvPr>
        </p:nvSpPr>
        <p:spPr>
          <a:xfrm>
            <a:off x="1078992" y="5010912"/>
            <a:ext cx="6720840" cy="704088"/>
          </a:xfrm>
        </p:spPr>
        <p:txBody>
          <a:bodyPr>
            <a:normAutofit/>
          </a:bodyPr>
          <a:lstStyle>
            <a:lvl1pPr marL="0" indent="0" algn="l">
              <a:lnSpc>
                <a:spcPct val="100000"/>
              </a:lnSpc>
              <a:buNone/>
              <a:defRPr sz="2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3395621-D631-4F31-AEEF-C8574E507372}"/>
              </a:ext>
            </a:extLst>
          </p:cNvPr>
          <p:cNvSpPr>
            <a:spLocks noGrp="1"/>
          </p:cNvSpPr>
          <p:nvPr>
            <p:ph type="dt" sz="half" idx="10"/>
          </p:nvPr>
        </p:nvSpPr>
        <p:spPr>
          <a:xfrm>
            <a:off x="8286356" y="6007608"/>
            <a:ext cx="3143643" cy="365125"/>
          </a:xfrm>
        </p:spPr>
        <p:txBody>
          <a:bodyPr/>
          <a:lstStyle/>
          <a:p>
            <a:fld id="{53BEF823-48A5-43FC-BE03-E79964288B41}" type="datetimeFigureOut">
              <a:rPr lang="en-US" smtClean="0"/>
              <a:t>12/5/2024</a:t>
            </a:fld>
            <a:endParaRPr lang="en-US"/>
          </a:p>
        </p:txBody>
      </p:sp>
      <p:sp>
        <p:nvSpPr>
          <p:cNvPr id="5" name="Footer Placeholder 4">
            <a:extLst>
              <a:ext uri="{FF2B5EF4-FFF2-40B4-BE49-F238E27FC236}">
                <a16:creationId xmlns:a16="http://schemas.microsoft.com/office/drawing/2014/main" id="{305EE125-77AD-4E23-AFB7-C5CFDEACACF1}"/>
              </a:ext>
            </a:extLst>
          </p:cNvPr>
          <p:cNvSpPr>
            <a:spLocks noGrp="1"/>
          </p:cNvSpPr>
          <p:nvPr>
            <p:ph type="ftr" sz="quarter" idx="11"/>
          </p:nvPr>
        </p:nvSpPr>
        <p:spPr>
          <a:xfrm>
            <a:off x="1078991" y="6007608"/>
            <a:ext cx="6720837" cy="365125"/>
          </a:xfrm>
        </p:spPr>
        <p:txBody>
          <a:bodyPr/>
          <a:lstStyle/>
          <a:p>
            <a:endParaRPr lang="en-US"/>
          </a:p>
        </p:txBody>
      </p:sp>
      <p:sp>
        <p:nvSpPr>
          <p:cNvPr id="6" name="Slide Number Placeholder 5">
            <a:extLst>
              <a:ext uri="{FF2B5EF4-FFF2-40B4-BE49-F238E27FC236}">
                <a16:creationId xmlns:a16="http://schemas.microsoft.com/office/drawing/2014/main" id="{DC569682-B530-4F52-87B9-39464A0930B3}"/>
              </a:ext>
            </a:extLst>
          </p:cNvPr>
          <p:cNvSpPr>
            <a:spLocks noGrp="1"/>
          </p:cNvSpPr>
          <p:nvPr>
            <p:ph type="sldNum" sz="quarter" idx="12"/>
          </p:nvPr>
        </p:nvSpPr>
        <p:spPr/>
        <p:txBody>
          <a:bodyPr/>
          <a:lstStyle>
            <a:lvl1pPr algn="ctr">
              <a:defRPr/>
            </a:lvl1p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8801652"/>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351BD-5252-4168-A69E-C6864AE297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748EEE-19C9-493B-836D-73B9E4A0BE1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A6BFE-11ED-4FB4-9F65-508B5B0F0DD3}"/>
              </a:ext>
            </a:extLst>
          </p:cNvPr>
          <p:cNvSpPr>
            <a:spLocks noGrp="1"/>
          </p:cNvSpPr>
          <p:nvPr>
            <p:ph type="dt" sz="half" idx="10"/>
          </p:nvPr>
        </p:nvSpPr>
        <p:spPr/>
        <p:txBody>
          <a:bodyPr/>
          <a:lstStyle/>
          <a:p>
            <a:pPr algn="r"/>
            <a:fld id="{53BEF823-48A5-43FC-BE03-E79964288B41}" type="datetimeFigureOut">
              <a:rPr lang="en-US" smtClean="0"/>
              <a:pPr algn="r"/>
              <a:t>12/5/2024</a:t>
            </a:fld>
            <a:endParaRPr lang="en-US"/>
          </a:p>
        </p:txBody>
      </p:sp>
      <p:sp>
        <p:nvSpPr>
          <p:cNvPr id="8" name="Footer Placeholder 7">
            <a:extLst>
              <a:ext uri="{FF2B5EF4-FFF2-40B4-BE49-F238E27FC236}">
                <a16:creationId xmlns:a16="http://schemas.microsoft.com/office/drawing/2014/main" id="{F90F536E-BEFF-4E0D-B4EC-39DE28C67CC3}"/>
              </a:ext>
            </a:extLst>
          </p:cNvPr>
          <p:cNvSpPr>
            <a:spLocks noGrp="1"/>
          </p:cNvSpPr>
          <p:nvPr>
            <p:ph type="ftr" sz="quarter" idx="11"/>
          </p:nvPr>
        </p:nvSpPr>
        <p:spPr/>
        <p:txBody>
          <a:bodyPr/>
          <a:lstStyle/>
          <a:p>
            <a:pPr algn="l"/>
            <a:endParaRPr lang="en-US"/>
          </a:p>
        </p:txBody>
      </p:sp>
      <p:sp>
        <p:nvSpPr>
          <p:cNvPr id="9" name="Slide Number Placeholder 8">
            <a:extLst>
              <a:ext uri="{FF2B5EF4-FFF2-40B4-BE49-F238E27FC236}">
                <a16:creationId xmlns:a16="http://schemas.microsoft.com/office/drawing/2014/main" id="{36EE02AF-6FE1-4972-BD48-A82499AD67F6}"/>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891188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452EE-D9FC-4E51-9BFF-141F9192339F}"/>
              </a:ext>
            </a:extLst>
          </p:cNvPr>
          <p:cNvSpPr>
            <a:spLocks noGrp="1"/>
          </p:cNvSpPr>
          <p:nvPr>
            <p:ph type="title"/>
          </p:nvPr>
        </p:nvSpPr>
        <p:spPr>
          <a:xfrm>
            <a:off x="763051" y="2414016"/>
            <a:ext cx="10666949" cy="3099816"/>
          </a:xfrm>
        </p:spPr>
        <p:txBody>
          <a:bodyPr anchor="t"/>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1E086C4-4949-4E7A-A182-6709496A1C38}"/>
              </a:ext>
            </a:extLst>
          </p:cNvPr>
          <p:cNvSpPr>
            <a:spLocks noGrp="1"/>
          </p:cNvSpPr>
          <p:nvPr>
            <p:ph type="body" idx="1"/>
          </p:nvPr>
        </p:nvSpPr>
        <p:spPr>
          <a:xfrm>
            <a:off x="758952" y="1389888"/>
            <a:ext cx="10671048" cy="822960"/>
          </a:xfrm>
        </p:spPr>
        <p:txBody>
          <a:bodyPr anchor="ctr">
            <a:normAutofit/>
          </a:bodyPr>
          <a:lstStyle>
            <a:lvl1pPr marL="0" indent="0">
              <a:buNone/>
              <a:defRPr sz="2000" i="1">
                <a:solidFill>
                  <a:schemeClr val="tx1">
                    <a:lumMod val="85000"/>
                    <a:lumOff val="1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3D12BC88-6A2B-4851-9568-23A4B74D9F98}"/>
              </a:ext>
            </a:extLst>
          </p:cNvPr>
          <p:cNvSpPr>
            <a:spLocks noGrp="1"/>
          </p:cNvSpPr>
          <p:nvPr>
            <p:ph type="dt" sz="half" idx="10"/>
          </p:nvPr>
        </p:nvSpPr>
        <p:spPr/>
        <p:txBody>
          <a:bodyPr/>
          <a:lstStyle/>
          <a:p>
            <a:pPr algn="r"/>
            <a:fld id="{53BEF823-48A5-43FC-BE03-E79964288B41}" type="datetimeFigureOut">
              <a:rPr lang="en-US" smtClean="0"/>
              <a:pPr algn="r"/>
              <a:t>12/5/2024</a:t>
            </a:fld>
            <a:endParaRPr lang="en-US"/>
          </a:p>
        </p:txBody>
      </p:sp>
      <p:sp>
        <p:nvSpPr>
          <p:cNvPr id="8" name="Footer Placeholder 7">
            <a:extLst>
              <a:ext uri="{FF2B5EF4-FFF2-40B4-BE49-F238E27FC236}">
                <a16:creationId xmlns:a16="http://schemas.microsoft.com/office/drawing/2014/main" id="{D882CFE5-65C3-4F46-9141-4645455947D2}"/>
              </a:ext>
            </a:extLst>
          </p:cNvPr>
          <p:cNvSpPr>
            <a:spLocks noGrp="1"/>
          </p:cNvSpPr>
          <p:nvPr>
            <p:ph type="ftr" sz="quarter" idx="11"/>
          </p:nvPr>
        </p:nvSpPr>
        <p:spPr/>
        <p:txBody>
          <a:bodyPr/>
          <a:lstStyle/>
          <a:p>
            <a:pPr algn="l"/>
            <a:endParaRPr lang="en-US"/>
          </a:p>
        </p:txBody>
      </p:sp>
      <p:sp>
        <p:nvSpPr>
          <p:cNvPr id="9" name="Slide Number Placeholder 8">
            <a:extLst>
              <a:ext uri="{FF2B5EF4-FFF2-40B4-BE49-F238E27FC236}">
                <a16:creationId xmlns:a16="http://schemas.microsoft.com/office/drawing/2014/main" id="{5321B390-4E13-4481-AC02-FF126656C4C9}"/>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1612504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0E02F8-47BB-4D30-8EFE-69C9222D9EC4}"/>
              </a:ext>
            </a:extLst>
          </p:cNvPr>
          <p:cNvSpPr>
            <a:spLocks noGrp="1"/>
          </p:cNvSpPr>
          <p:nvPr>
            <p:ph sz="half" idx="1"/>
          </p:nvPr>
        </p:nvSpPr>
        <p:spPr>
          <a:xfrm>
            <a:off x="5184648" y="758952"/>
            <a:ext cx="6245352" cy="2240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A844D33-6BF0-4205-A542-8537E3515938}"/>
              </a:ext>
            </a:extLst>
          </p:cNvPr>
          <p:cNvSpPr>
            <a:spLocks noGrp="1"/>
          </p:cNvSpPr>
          <p:nvPr>
            <p:ph sz="half" idx="2"/>
          </p:nvPr>
        </p:nvSpPr>
        <p:spPr>
          <a:xfrm>
            <a:off x="5184647" y="3273551"/>
            <a:ext cx="6245351" cy="22402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D6953A83-D2BE-4015-8D64-BE93DDFE5D21}"/>
              </a:ext>
            </a:extLst>
          </p:cNvPr>
          <p:cNvSpPr>
            <a:spLocks noGrp="1"/>
          </p:cNvSpPr>
          <p:nvPr>
            <p:ph type="dt" sz="half" idx="10"/>
          </p:nvPr>
        </p:nvSpPr>
        <p:spPr/>
        <p:txBody>
          <a:bodyPr/>
          <a:lstStyle/>
          <a:p>
            <a:pPr algn="r"/>
            <a:fld id="{53BEF823-48A5-43FC-BE03-E79964288B41}" type="datetimeFigureOut">
              <a:rPr lang="en-US" smtClean="0"/>
              <a:pPr algn="r"/>
              <a:t>12/5/2024</a:t>
            </a:fld>
            <a:endParaRPr lang="en-US"/>
          </a:p>
        </p:txBody>
      </p:sp>
      <p:sp>
        <p:nvSpPr>
          <p:cNvPr id="10" name="Footer Placeholder 9">
            <a:extLst>
              <a:ext uri="{FF2B5EF4-FFF2-40B4-BE49-F238E27FC236}">
                <a16:creationId xmlns:a16="http://schemas.microsoft.com/office/drawing/2014/main" id="{BA849E67-05F9-4033-B033-74D6B8C8E771}"/>
              </a:ext>
            </a:extLst>
          </p:cNvPr>
          <p:cNvSpPr>
            <a:spLocks noGrp="1"/>
          </p:cNvSpPr>
          <p:nvPr>
            <p:ph type="ftr" sz="quarter" idx="11"/>
          </p:nvPr>
        </p:nvSpPr>
        <p:spPr/>
        <p:txBody>
          <a:bodyPr/>
          <a:lstStyle/>
          <a:p>
            <a:pPr algn="l"/>
            <a:endParaRPr lang="en-US"/>
          </a:p>
        </p:txBody>
      </p:sp>
      <p:sp>
        <p:nvSpPr>
          <p:cNvPr id="11" name="Slide Number Placeholder 10">
            <a:extLst>
              <a:ext uri="{FF2B5EF4-FFF2-40B4-BE49-F238E27FC236}">
                <a16:creationId xmlns:a16="http://schemas.microsoft.com/office/drawing/2014/main" id="{DFAAC6AA-CFFB-438F-9327-DDB023E2E149}"/>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
        <p:nvSpPr>
          <p:cNvPr id="5" name="Title 4">
            <a:extLst>
              <a:ext uri="{FF2B5EF4-FFF2-40B4-BE49-F238E27FC236}">
                <a16:creationId xmlns:a16="http://schemas.microsoft.com/office/drawing/2014/main" id="{BA4960CB-ABA7-4442-AB15-FE444F23C63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273883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348291-9C7D-407E-8D07-FA3A323EA973}"/>
              </a:ext>
            </a:extLst>
          </p:cNvPr>
          <p:cNvSpPr>
            <a:spLocks noGrp="1"/>
          </p:cNvSpPr>
          <p:nvPr>
            <p:ph type="body" idx="1"/>
          </p:nvPr>
        </p:nvSpPr>
        <p:spPr>
          <a:xfrm>
            <a:off x="5184648" y="758952"/>
            <a:ext cx="6245352"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1A192D2-8BA6-4A4D-814D-AD37A2A10AC8}"/>
              </a:ext>
            </a:extLst>
          </p:cNvPr>
          <p:cNvSpPr>
            <a:spLocks noGrp="1"/>
          </p:cNvSpPr>
          <p:nvPr>
            <p:ph sz="half" idx="2"/>
          </p:nvPr>
        </p:nvSpPr>
        <p:spPr>
          <a:xfrm>
            <a:off x="5190323" y="1377198"/>
            <a:ext cx="6239675"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86FD4BC-C948-41C4-BA24-5D26147E1C97}"/>
              </a:ext>
            </a:extLst>
          </p:cNvPr>
          <p:cNvSpPr>
            <a:spLocks noGrp="1"/>
          </p:cNvSpPr>
          <p:nvPr>
            <p:ph type="body" sz="quarter" idx="3"/>
          </p:nvPr>
        </p:nvSpPr>
        <p:spPr>
          <a:xfrm>
            <a:off x="5184647" y="3319548"/>
            <a:ext cx="6245351" cy="548640"/>
          </a:xfrm>
        </p:spPr>
        <p:txBody>
          <a:bodyPr anchor="b"/>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12E359C-F73D-4F1B-9F9A-6D628567105D}"/>
              </a:ext>
            </a:extLst>
          </p:cNvPr>
          <p:cNvSpPr>
            <a:spLocks noGrp="1"/>
          </p:cNvSpPr>
          <p:nvPr>
            <p:ph sz="quarter" idx="4"/>
          </p:nvPr>
        </p:nvSpPr>
        <p:spPr>
          <a:xfrm>
            <a:off x="5184646" y="3932372"/>
            <a:ext cx="6245352" cy="1828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itle 9">
            <a:extLst>
              <a:ext uri="{FF2B5EF4-FFF2-40B4-BE49-F238E27FC236}">
                <a16:creationId xmlns:a16="http://schemas.microsoft.com/office/drawing/2014/main" id="{D76B63AE-38FF-40DD-A543-32DD98E6BDB2}"/>
              </a:ext>
            </a:extLst>
          </p:cNvPr>
          <p:cNvSpPr>
            <a:spLocks noGrp="1"/>
          </p:cNvSpPr>
          <p:nvPr>
            <p:ph type="title"/>
          </p:nvPr>
        </p:nvSpPr>
        <p:spPr/>
        <p:txBody>
          <a:bodyPr/>
          <a:lstStyle/>
          <a:p>
            <a:r>
              <a:rPr lang="en-US"/>
              <a:t>Click to edit Master title style</a:t>
            </a:r>
          </a:p>
        </p:txBody>
      </p:sp>
      <p:sp>
        <p:nvSpPr>
          <p:cNvPr id="12" name="Date Placeholder 11">
            <a:extLst>
              <a:ext uri="{FF2B5EF4-FFF2-40B4-BE49-F238E27FC236}">
                <a16:creationId xmlns:a16="http://schemas.microsoft.com/office/drawing/2014/main" id="{C686C0EB-E082-4BAB-99E8-B42F3C28B20F}"/>
              </a:ext>
            </a:extLst>
          </p:cNvPr>
          <p:cNvSpPr>
            <a:spLocks noGrp="1"/>
          </p:cNvSpPr>
          <p:nvPr>
            <p:ph type="dt" sz="half" idx="10"/>
          </p:nvPr>
        </p:nvSpPr>
        <p:spPr/>
        <p:txBody>
          <a:bodyPr/>
          <a:lstStyle/>
          <a:p>
            <a:pPr algn="r"/>
            <a:fld id="{53BEF823-48A5-43FC-BE03-E79964288B41}" type="datetimeFigureOut">
              <a:rPr lang="en-US" smtClean="0"/>
              <a:pPr algn="r"/>
              <a:t>12/5/2024</a:t>
            </a:fld>
            <a:endParaRPr lang="en-US"/>
          </a:p>
        </p:txBody>
      </p:sp>
      <p:sp>
        <p:nvSpPr>
          <p:cNvPr id="13" name="Footer Placeholder 12">
            <a:extLst>
              <a:ext uri="{FF2B5EF4-FFF2-40B4-BE49-F238E27FC236}">
                <a16:creationId xmlns:a16="http://schemas.microsoft.com/office/drawing/2014/main" id="{B3CB0152-BA1F-48C7-A66F-3ADB51C94B97}"/>
              </a:ext>
            </a:extLst>
          </p:cNvPr>
          <p:cNvSpPr>
            <a:spLocks noGrp="1"/>
          </p:cNvSpPr>
          <p:nvPr>
            <p:ph type="ftr" sz="quarter" idx="11"/>
          </p:nvPr>
        </p:nvSpPr>
        <p:spPr/>
        <p:txBody>
          <a:bodyPr/>
          <a:lstStyle/>
          <a:p>
            <a:pPr algn="l"/>
            <a:endParaRPr lang="en-US"/>
          </a:p>
        </p:txBody>
      </p:sp>
      <p:sp>
        <p:nvSpPr>
          <p:cNvPr id="14" name="Slide Number Placeholder 13">
            <a:extLst>
              <a:ext uri="{FF2B5EF4-FFF2-40B4-BE49-F238E27FC236}">
                <a16:creationId xmlns:a16="http://schemas.microsoft.com/office/drawing/2014/main" id="{BD1C21B3-5CF6-415F-8295-EED3DF5CB55C}"/>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213155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470D5-4EB9-4410-A8AE-6D85F19239FF}"/>
              </a:ext>
            </a:extLst>
          </p:cNvPr>
          <p:cNvSpPr>
            <a:spLocks noGrp="1"/>
          </p:cNvSpPr>
          <p:nvPr>
            <p:ph type="title"/>
          </p:nvPr>
        </p:nvSpPr>
        <p:spPr/>
        <p:txBody>
          <a:bodyPr/>
          <a:lstStyle/>
          <a:p>
            <a:r>
              <a:rPr lang="en-US"/>
              <a:t>Click to edit Master title style</a:t>
            </a:r>
          </a:p>
        </p:txBody>
      </p:sp>
      <p:sp>
        <p:nvSpPr>
          <p:cNvPr id="6" name="Date Placeholder 5">
            <a:extLst>
              <a:ext uri="{FF2B5EF4-FFF2-40B4-BE49-F238E27FC236}">
                <a16:creationId xmlns:a16="http://schemas.microsoft.com/office/drawing/2014/main" id="{5887FB59-BA77-4864-B9E8-994851250CB4}"/>
              </a:ext>
            </a:extLst>
          </p:cNvPr>
          <p:cNvSpPr>
            <a:spLocks noGrp="1"/>
          </p:cNvSpPr>
          <p:nvPr>
            <p:ph type="dt" sz="half" idx="10"/>
          </p:nvPr>
        </p:nvSpPr>
        <p:spPr/>
        <p:txBody>
          <a:bodyPr/>
          <a:lstStyle/>
          <a:p>
            <a:pPr algn="r"/>
            <a:fld id="{53BEF823-48A5-43FC-BE03-E79964288B41}" type="datetimeFigureOut">
              <a:rPr lang="en-US" smtClean="0"/>
              <a:pPr algn="r"/>
              <a:t>12/5/2024</a:t>
            </a:fld>
            <a:endParaRPr lang="en-US"/>
          </a:p>
        </p:txBody>
      </p:sp>
      <p:sp>
        <p:nvSpPr>
          <p:cNvPr id="7" name="Footer Placeholder 6">
            <a:extLst>
              <a:ext uri="{FF2B5EF4-FFF2-40B4-BE49-F238E27FC236}">
                <a16:creationId xmlns:a16="http://schemas.microsoft.com/office/drawing/2014/main" id="{B6F0BC0B-BA67-455B-B567-1473DF0628BE}"/>
              </a:ext>
            </a:extLst>
          </p:cNvPr>
          <p:cNvSpPr>
            <a:spLocks noGrp="1"/>
          </p:cNvSpPr>
          <p:nvPr>
            <p:ph type="ftr" sz="quarter" idx="11"/>
          </p:nvPr>
        </p:nvSpPr>
        <p:spPr/>
        <p:txBody>
          <a:bodyPr/>
          <a:lstStyle/>
          <a:p>
            <a:pPr algn="l"/>
            <a:endParaRPr lang="en-US"/>
          </a:p>
        </p:txBody>
      </p:sp>
      <p:sp>
        <p:nvSpPr>
          <p:cNvPr id="8" name="Slide Number Placeholder 7">
            <a:extLst>
              <a:ext uri="{FF2B5EF4-FFF2-40B4-BE49-F238E27FC236}">
                <a16:creationId xmlns:a16="http://schemas.microsoft.com/office/drawing/2014/main" id="{2CF0BCF3-6FB5-4529-AA6A-A31467351EF5}"/>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19928870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4BF1315B-6865-4A5A-91C1-B75339038903}"/>
              </a:ext>
            </a:extLst>
          </p:cNvPr>
          <p:cNvSpPr>
            <a:spLocks noGrp="1"/>
          </p:cNvSpPr>
          <p:nvPr>
            <p:ph type="dt" sz="half" idx="10"/>
          </p:nvPr>
        </p:nvSpPr>
        <p:spPr/>
        <p:txBody>
          <a:bodyPr/>
          <a:lstStyle/>
          <a:p>
            <a:pPr algn="r"/>
            <a:fld id="{53BEF823-48A5-43FC-BE03-E79964288B41}" type="datetimeFigureOut">
              <a:rPr lang="en-US" smtClean="0"/>
              <a:pPr algn="r"/>
              <a:t>12/5/2024</a:t>
            </a:fld>
            <a:endParaRPr lang="en-US"/>
          </a:p>
        </p:txBody>
      </p:sp>
      <p:sp>
        <p:nvSpPr>
          <p:cNvPr id="6" name="Footer Placeholder 5">
            <a:extLst>
              <a:ext uri="{FF2B5EF4-FFF2-40B4-BE49-F238E27FC236}">
                <a16:creationId xmlns:a16="http://schemas.microsoft.com/office/drawing/2014/main" id="{DD536720-08C7-43DE-8EB5-CAB52D0E96B1}"/>
              </a:ext>
            </a:extLst>
          </p:cNvPr>
          <p:cNvSpPr>
            <a:spLocks noGrp="1"/>
          </p:cNvSpPr>
          <p:nvPr>
            <p:ph type="ftr" sz="quarter" idx="11"/>
          </p:nvPr>
        </p:nvSpPr>
        <p:spPr/>
        <p:txBody>
          <a:bodyPr/>
          <a:lstStyle/>
          <a:p>
            <a:pPr algn="l"/>
            <a:endParaRPr lang="en-US"/>
          </a:p>
        </p:txBody>
      </p:sp>
      <p:sp>
        <p:nvSpPr>
          <p:cNvPr id="7" name="Slide Number Placeholder 6">
            <a:extLst>
              <a:ext uri="{FF2B5EF4-FFF2-40B4-BE49-F238E27FC236}">
                <a16:creationId xmlns:a16="http://schemas.microsoft.com/office/drawing/2014/main" id="{6D2477AF-B012-491C-AE42-22DE1203BE8D}"/>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40085175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ED183AC-72A9-43F5-A1B3-1D7A6A4C7EEB}"/>
              </a:ext>
            </a:extLst>
          </p:cNvPr>
          <p:cNvSpPr>
            <a:spLocks noGrp="1"/>
          </p:cNvSpPr>
          <p:nvPr>
            <p:ph idx="1"/>
          </p:nvPr>
        </p:nvSpPr>
        <p:spPr>
          <a:xfrm>
            <a:off x="5183188" y="758951"/>
            <a:ext cx="6245352" cy="4754881"/>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045592-52ED-4270-ACBB-BCC528DAC407}"/>
              </a:ext>
            </a:extLst>
          </p:cNvPr>
          <p:cNvSpPr>
            <a:spLocks noGrp="1"/>
          </p:cNvSpPr>
          <p:nvPr>
            <p:ph type="body" sz="half" idx="2"/>
          </p:nvPr>
        </p:nvSpPr>
        <p:spPr>
          <a:xfrm>
            <a:off x="758953" y="3815080"/>
            <a:ext cx="3831336" cy="1698752"/>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99A93518-F9B5-418F-9883-BEF8359B045A}"/>
              </a:ext>
            </a:extLst>
          </p:cNvPr>
          <p:cNvSpPr>
            <a:spLocks noGrp="1"/>
          </p:cNvSpPr>
          <p:nvPr>
            <p:ph type="dt" sz="half" idx="10"/>
          </p:nvPr>
        </p:nvSpPr>
        <p:spPr/>
        <p:txBody>
          <a:bodyPr/>
          <a:lstStyle/>
          <a:p>
            <a:pPr algn="r"/>
            <a:fld id="{53BEF823-48A5-43FC-BE03-E79964288B41}" type="datetimeFigureOut">
              <a:rPr lang="en-US" smtClean="0"/>
              <a:pPr algn="r"/>
              <a:t>12/5/2024</a:t>
            </a:fld>
            <a:endParaRPr lang="en-US"/>
          </a:p>
        </p:txBody>
      </p:sp>
      <p:sp>
        <p:nvSpPr>
          <p:cNvPr id="10" name="Footer Placeholder 9">
            <a:extLst>
              <a:ext uri="{FF2B5EF4-FFF2-40B4-BE49-F238E27FC236}">
                <a16:creationId xmlns:a16="http://schemas.microsoft.com/office/drawing/2014/main" id="{27B9FFE7-C4AB-425B-9B56-E412C72212A0}"/>
              </a:ext>
            </a:extLst>
          </p:cNvPr>
          <p:cNvSpPr>
            <a:spLocks noGrp="1"/>
          </p:cNvSpPr>
          <p:nvPr>
            <p:ph type="ftr" sz="quarter" idx="11"/>
          </p:nvPr>
        </p:nvSpPr>
        <p:spPr/>
        <p:txBody>
          <a:bodyPr/>
          <a:lstStyle/>
          <a:p>
            <a:pPr algn="l"/>
            <a:endParaRPr lang="en-US"/>
          </a:p>
        </p:txBody>
      </p:sp>
      <p:sp>
        <p:nvSpPr>
          <p:cNvPr id="11" name="Slide Number Placeholder 10">
            <a:extLst>
              <a:ext uri="{FF2B5EF4-FFF2-40B4-BE49-F238E27FC236}">
                <a16:creationId xmlns:a16="http://schemas.microsoft.com/office/drawing/2014/main" id="{59231052-EBA8-4781-B28A-2FEA8BE523F3}"/>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
        <p:nvSpPr>
          <p:cNvPr id="2" name="Title 1">
            <a:extLst>
              <a:ext uri="{FF2B5EF4-FFF2-40B4-BE49-F238E27FC236}">
                <a16:creationId xmlns:a16="http://schemas.microsoft.com/office/drawing/2014/main" id="{CBDBF9E7-F686-4FA1-9BA5-69BDD014B0D3}"/>
              </a:ext>
            </a:extLst>
          </p:cNvPr>
          <p:cNvSpPr>
            <a:spLocks noGrp="1"/>
          </p:cNvSpPr>
          <p:nvPr>
            <p:ph type="title"/>
          </p:nvPr>
        </p:nvSpPr>
        <p:spPr>
          <a:xfrm>
            <a:off x="758952" y="758952"/>
            <a:ext cx="3831336" cy="2930179"/>
          </a:xfrm>
        </p:spPr>
        <p:txBody>
          <a:bodyPr/>
          <a:lstStyle/>
          <a:p>
            <a:r>
              <a:rPr lang="en-US"/>
              <a:t>Click to edit Master title style</a:t>
            </a:r>
          </a:p>
        </p:txBody>
      </p:sp>
    </p:spTree>
    <p:extLst>
      <p:ext uri="{BB962C8B-B14F-4D97-AF65-F5344CB8AC3E}">
        <p14:creationId xmlns:p14="http://schemas.microsoft.com/office/powerpoint/2010/main" val="20398397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116CF06-B27C-4DC4-981D-38E31997BD16}"/>
              </a:ext>
            </a:extLst>
          </p:cNvPr>
          <p:cNvSpPr>
            <a:spLocks noGrp="1"/>
          </p:cNvSpPr>
          <p:nvPr>
            <p:ph type="pic" idx="1"/>
          </p:nvPr>
        </p:nvSpPr>
        <p:spPr>
          <a:xfrm>
            <a:off x="5183188" y="758951"/>
            <a:ext cx="6245352" cy="4754881"/>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E1976E66-2CB3-4F47-97F6-077C42818316}"/>
              </a:ext>
            </a:extLst>
          </p:cNvPr>
          <p:cNvSpPr>
            <a:spLocks noGrp="1"/>
          </p:cNvSpPr>
          <p:nvPr>
            <p:ph type="body" sz="half" idx="2"/>
          </p:nvPr>
        </p:nvSpPr>
        <p:spPr>
          <a:xfrm>
            <a:off x="758952" y="3794760"/>
            <a:ext cx="3831336" cy="1719072"/>
          </a:xfrm>
        </p:spPr>
        <p:txBody>
          <a:bodyPr>
            <a:normAutofit/>
          </a:bodyPr>
          <a:lstStyle>
            <a:lvl1pPr marL="0" indent="0">
              <a:buNone/>
              <a:defRPr sz="200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a:extLst>
              <a:ext uri="{FF2B5EF4-FFF2-40B4-BE49-F238E27FC236}">
                <a16:creationId xmlns:a16="http://schemas.microsoft.com/office/drawing/2014/main" id="{71414C9F-CBBD-4D5E-A831-BC0CDFEBCEF3}"/>
              </a:ext>
            </a:extLst>
          </p:cNvPr>
          <p:cNvSpPr>
            <a:spLocks noGrp="1"/>
          </p:cNvSpPr>
          <p:nvPr>
            <p:ph type="dt" sz="half" idx="10"/>
          </p:nvPr>
        </p:nvSpPr>
        <p:spPr/>
        <p:txBody>
          <a:bodyPr/>
          <a:lstStyle/>
          <a:p>
            <a:pPr algn="r"/>
            <a:fld id="{53BEF823-48A5-43FC-BE03-E79964288B41}" type="datetimeFigureOut">
              <a:rPr lang="en-US" smtClean="0"/>
              <a:pPr algn="r"/>
              <a:t>12/5/2024</a:t>
            </a:fld>
            <a:endParaRPr lang="en-US"/>
          </a:p>
        </p:txBody>
      </p:sp>
      <p:sp>
        <p:nvSpPr>
          <p:cNvPr id="10" name="Footer Placeholder 9">
            <a:extLst>
              <a:ext uri="{FF2B5EF4-FFF2-40B4-BE49-F238E27FC236}">
                <a16:creationId xmlns:a16="http://schemas.microsoft.com/office/drawing/2014/main" id="{F58DC0C8-B580-442D-8DAC-4F0F869B1F11}"/>
              </a:ext>
            </a:extLst>
          </p:cNvPr>
          <p:cNvSpPr>
            <a:spLocks noGrp="1"/>
          </p:cNvSpPr>
          <p:nvPr>
            <p:ph type="ftr" sz="quarter" idx="11"/>
          </p:nvPr>
        </p:nvSpPr>
        <p:spPr/>
        <p:txBody>
          <a:bodyPr/>
          <a:lstStyle/>
          <a:p>
            <a:pPr algn="l"/>
            <a:endParaRPr lang="en-US"/>
          </a:p>
        </p:txBody>
      </p:sp>
      <p:sp>
        <p:nvSpPr>
          <p:cNvPr id="11" name="Slide Number Placeholder 10">
            <a:extLst>
              <a:ext uri="{FF2B5EF4-FFF2-40B4-BE49-F238E27FC236}">
                <a16:creationId xmlns:a16="http://schemas.microsoft.com/office/drawing/2014/main" id="{1B0D29E8-DFEE-49AB-83AF-85FF25252A3C}"/>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
        <p:nvSpPr>
          <p:cNvPr id="2" name="Title 1">
            <a:extLst>
              <a:ext uri="{FF2B5EF4-FFF2-40B4-BE49-F238E27FC236}">
                <a16:creationId xmlns:a16="http://schemas.microsoft.com/office/drawing/2014/main" id="{D0EAAF1B-6B6E-4D37-8F57-E403C6371A00}"/>
              </a:ext>
            </a:extLst>
          </p:cNvPr>
          <p:cNvSpPr>
            <a:spLocks noGrp="1"/>
          </p:cNvSpPr>
          <p:nvPr>
            <p:ph type="title"/>
          </p:nvPr>
        </p:nvSpPr>
        <p:spPr>
          <a:xfrm>
            <a:off x="758952" y="758952"/>
            <a:ext cx="3831336" cy="2926080"/>
          </a:xfrm>
        </p:spPr>
        <p:txBody>
          <a:bodyPr/>
          <a:lstStyle/>
          <a:p>
            <a:r>
              <a:rPr lang="en-US"/>
              <a:t>Click to edit Master title style</a:t>
            </a:r>
          </a:p>
        </p:txBody>
      </p:sp>
    </p:spTree>
    <p:extLst>
      <p:ext uri="{BB962C8B-B14F-4D97-AF65-F5344CB8AC3E}">
        <p14:creationId xmlns:p14="http://schemas.microsoft.com/office/powerpoint/2010/main" val="20895489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F59FCF-ACDF-495D-ACFA-15FCAC9EAEE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B3786E3-AB17-427E-8EF8-7FCB671A11D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833B4E9-7A16-448C-8BE6-B14941A34857}"/>
              </a:ext>
            </a:extLst>
          </p:cNvPr>
          <p:cNvSpPr>
            <a:spLocks noGrp="1"/>
          </p:cNvSpPr>
          <p:nvPr>
            <p:ph type="dt" sz="half" idx="10"/>
          </p:nvPr>
        </p:nvSpPr>
        <p:spPr/>
        <p:txBody>
          <a:bodyPr/>
          <a:lstStyle/>
          <a:p>
            <a:pPr algn="r"/>
            <a:fld id="{53BEF823-48A5-43FC-BE03-E79964288B41}" type="datetimeFigureOut">
              <a:rPr lang="en-US" smtClean="0"/>
              <a:pPr algn="r"/>
              <a:t>12/5/2024</a:t>
            </a:fld>
            <a:endParaRPr lang="en-US"/>
          </a:p>
        </p:txBody>
      </p:sp>
      <p:sp>
        <p:nvSpPr>
          <p:cNvPr id="8" name="Footer Placeholder 7">
            <a:extLst>
              <a:ext uri="{FF2B5EF4-FFF2-40B4-BE49-F238E27FC236}">
                <a16:creationId xmlns:a16="http://schemas.microsoft.com/office/drawing/2014/main" id="{579212F5-5835-49FF-836F-5E3008A0EDB1}"/>
              </a:ext>
            </a:extLst>
          </p:cNvPr>
          <p:cNvSpPr>
            <a:spLocks noGrp="1"/>
          </p:cNvSpPr>
          <p:nvPr>
            <p:ph type="ftr" sz="quarter" idx="11"/>
          </p:nvPr>
        </p:nvSpPr>
        <p:spPr/>
        <p:txBody>
          <a:bodyPr/>
          <a:lstStyle/>
          <a:p>
            <a:pPr algn="l"/>
            <a:endParaRPr lang="en-US"/>
          </a:p>
        </p:txBody>
      </p:sp>
      <p:sp>
        <p:nvSpPr>
          <p:cNvPr id="9" name="Slide Number Placeholder 8">
            <a:extLst>
              <a:ext uri="{FF2B5EF4-FFF2-40B4-BE49-F238E27FC236}">
                <a16:creationId xmlns:a16="http://schemas.microsoft.com/office/drawing/2014/main" id="{DE9D492B-E5EE-4D24-A087-57D739CFACE8}"/>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31049908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31E395-94BD-4E79-8E42-9CD4EB33CA60}"/>
              </a:ext>
            </a:extLst>
          </p:cNvPr>
          <p:cNvSpPr>
            <a:spLocks noGrp="1"/>
          </p:cNvSpPr>
          <p:nvPr>
            <p:ph type="title" orient="vert"/>
          </p:nvPr>
        </p:nvSpPr>
        <p:spPr>
          <a:xfrm>
            <a:off x="8475542" y="758952"/>
            <a:ext cx="2954458" cy="4986002"/>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79AA8A4-66BC-4E80-ABE3-F533F82B88CA}"/>
              </a:ext>
            </a:extLst>
          </p:cNvPr>
          <p:cNvSpPr>
            <a:spLocks noGrp="1"/>
          </p:cNvSpPr>
          <p:nvPr>
            <p:ph type="body" orient="vert" idx="1"/>
          </p:nvPr>
        </p:nvSpPr>
        <p:spPr>
          <a:xfrm>
            <a:off x="758952" y="758952"/>
            <a:ext cx="7407586" cy="498600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DA4EA6-6A1A-48ED-9D79-A438561C7E79}"/>
              </a:ext>
            </a:extLst>
          </p:cNvPr>
          <p:cNvSpPr>
            <a:spLocks noGrp="1"/>
          </p:cNvSpPr>
          <p:nvPr>
            <p:ph type="dt" sz="half" idx="10"/>
          </p:nvPr>
        </p:nvSpPr>
        <p:spPr/>
        <p:txBody>
          <a:bodyPr/>
          <a:lstStyle/>
          <a:p>
            <a:pPr algn="r"/>
            <a:fld id="{53BEF823-48A5-43FC-BE03-E79964288B41}" type="datetimeFigureOut">
              <a:rPr lang="en-US" smtClean="0"/>
              <a:pPr algn="r"/>
              <a:t>12/5/2024</a:t>
            </a:fld>
            <a:endParaRPr lang="en-US"/>
          </a:p>
        </p:txBody>
      </p:sp>
      <p:sp>
        <p:nvSpPr>
          <p:cNvPr id="8" name="Footer Placeholder 7">
            <a:extLst>
              <a:ext uri="{FF2B5EF4-FFF2-40B4-BE49-F238E27FC236}">
                <a16:creationId xmlns:a16="http://schemas.microsoft.com/office/drawing/2014/main" id="{F049B2BA-9250-4EBF-8820-10BDA5C1C62B}"/>
              </a:ext>
            </a:extLst>
          </p:cNvPr>
          <p:cNvSpPr>
            <a:spLocks noGrp="1"/>
          </p:cNvSpPr>
          <p:nvPr>
            <p:ph type="ftr" sz="quarter" idx="11"/>
          </p:nvPr>
        </p:nvSpPr>
        <p:spPr/>
        <p:txBody>
          <a:bodyPr/>
          <a:lstStyle/>
          <a:p>
            <a:pPr algn="l"/>
            <a:endParaRPr lang="en-US"/>
          </a:p>
        </p:txBody>
      </p:sp>
      <p:sp>
        <p:nvSpPr>
          <p:cNvPr id="9" name="Slide Number Placeholder 8">
            <a:extLst>
              <a:ext uri="{FF2B5EF4-FFF2-40B4-BE49-F238E27FC236}">
                <a16:creationId xmlns:a16="http://schemas.microsoft.com/office/drawing/2014/main" id="{1F914475-55F3-4C46-BAE2-E4D93E9E3781}"/>
              </a:ext>
            </a:extLst>
          </p:cNvPr>
          <p:cNvSpPr>
            <a:spLocks noGrp="1"/>
          </p:cNvSpPr>
          <p:nvPr>
            <p:ph type="sldNum" sz="quarter" idx="12"/>
          </p:nvPr>
        </p:nvSpPr>
        <p:spPr/>
        <p:txBody>
          <a:body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875860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8" name="Freeform 6" title="Page Number Shape">
            <a:extLst>
              <a:ext uri="{FF2B5EF4-FFF2-40B4-BE49-F238E27FC236}">
                <a16:creationId xmlns:a16="http://schemas.microsoft.com/office/drawing/2014/main" id="{72411438-92A5-42B0-9C54-EA4FB32ACB5E}"/>
              </a:ext>
            </a:extLst>
          </p:cNvPr>
          <p:cNvSpPr/>
          <p:nvPr/>
        </p:nvSpPr>
        <p:spPr bwMode="auto">
          <a:xfrm>
            <a:off x="11784011" y="5778801"/>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
        <p:nvSpPr>
          <p:cNvPr id="2" name="Title Placeholder 1">
            <a:extLst>
              <a:ext uri="{FF2B5EF4-FFF2-40B4-BE49-F238E27FC236}">
                <a16:creationId xmlns:a16="http://schemas.microsoft.com/office/drawing/2014/main" id="{0D56E4D8-47B6-4DEC-BD29-B3B6ED4CC739}"/>
              </a:ext>
            </a:extLst>
          </p:cNvPr>
          <p:cNvSpPr>
            <a:spLocks noGrp="1"/>
          </p:cNvSpPr>
          <p:nvPr>
            <p:ph type="title"/>
          </p:nvPr>
        </p:nvSpPr>
        <p:spPr>
          <a:xfrm>
            <a:off x="758952" y="758952"/>
            <a:ext cx="3831336" cy="475488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3F0F5D4C-4873-4052-A294-99CCB9421C4A}"/>
              </a:ext>
            </a:extLst>
          </p:cNvPr>
          <p:cNvSpPr>
            <a:spLocks noGrp="1"/>
          </p:cNvSpPr>
          <p:nvPr>
            <p:ph type="body" idx="1"/>
          </p:nvPr>
        </p:nvSpPr>
        <p:spPr>
          <a:xfrm>
            <a:off x="5184648" y="758952"/>
            <a:ext cx="6245352" cy="475488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1D62B3-3490-46B4-A10E-33FCE4A1FBB5}"/>
              </a:ext>
            </a:extLst>
          </p:cNvPr>
          <p:cNvSpPr>
            <a:spLocks noGrp="1"/>
          </p:cNvSpPr>
          <p:nvPr>
            <p:ph type="dt" sz="half" idx="2"/>
          </p:nvPr>
        </p:nvSpPr>
        <p:spPr>
          <a:xfrm>
            <a:off x="7616952" y="6007608"/>
            <a:ext cx="3813048" cy="365125"/>
          </a:xfrm>
          <a:prstGeom prst="rect">
            <a:avLst/>
          </a:prstGeom>
        </p:spPr>
        <p:txBody>
          <a:bodyPr vert="horz" lIns="91440" tIns="45720" rIns="91440" bIns="45720" rtlCol="0" anchor="ctr"/>
          <a:lstStyle>
            <a:lvl1pPr algn="r">
              <a:defRPr sz="1000" spc="50" baseline="0">
                <a:solidFill>
                  <a:schemeClr val="tx1">
                    <a:lumMod val="85000"/>
                    <a:lumOff val="15000"/>
                  </a:schemeClr>
                </a:solidFill>
              </a:defRPr>
            </a:lvl1pPr>
          </a:lstStyle>
          <a:p>
            <a:pPr algn="r"/>
            <a:fld id="{53BEF823-48A5-43FC-BE03-E79964288B41}" type="datetimeFigureOut">
              <a:rPr lang="en-US" smtClean="0"/>
              <a:pPr algn="r"/>
              <a:t>12/5/2024</a:t>
            </a:fld>
            <a:endParaRPr lang="en-US"/>
          </a:p>
        </p:txBody>
      </p:sp>
      <p:sp>
        <p:nvSpPr>
          <p:cNvPr id="5" name="Footer Placeholder 4">
            <a:extLst>
              <a:ext uri="{FF2B5EF4-FFF2-40B4-BE49-F238E27FC236}">
                <a16:creationId xmlns:a16="http://schemas.microsoft.com/office/drawing/2014/main" id="{97424CB1-7D5F-4F52-9F99-7068F5819E8C}"/>
              </a:ext>
            </a:extLst>
          </p:cNvPr>
          <p:cNvSpPr>
            <a:spLocks noGrp="1"/>
          </p:cNvSpPr>
          <p:nvPr>
            <p:ph type="ftr" sz="quarter" idx="3"/>
          </p:nvPr>
        </p:nvSpPr>
        <p:spPr>
          <a:xfrm>
            <a:off x="758952" y="6007608"/>
            <a:ext cx="3831336" cy="365125"/>
          </a:xfrm>
          <a:prstGeom prst="rect">
            <a:avLst/>
          </a:prstGeom>
        </p:spPr>
        <p:txBody>
          <a:bodyPr vert="horz" lIns="91440" tIns="45720" rIns="91440" bIns="45720" rtlCol="0" anchor="ctr"/>
          <a:lstStyle>
            <a:lvl1pPr algn="l">
              <a:defRPr sz="1000" spc="50" baseline="0">
                <a:solidFill>
                  <a:schemeClr val="tx1">
                    <a:lumMod val="85000"/>
                    <a:lumOff val="15000"/>
                  </a:schemeClr>
                </a:solidFill>
              </a:defRPr>
            </a:lvl1pPr>
          </a:lstStyle>
          <a:p>
            <a:pPr algn="l"/>
            <a:endParaRPr lang="en-US"/>
          </a:p>
        </p:txBody>
      </p:sp>
      <p:sp>
        <p:nvSpPr>
          <p:cNvPr id="6" name="Slide Number Placeholder 5">
            <a:extLst>
              <a:ext uri="{FF2B5EF4-FFF2-40B4-BE49-F238E27FC236}">
                <a16:creationId xmlns:a16="http://schemas.microsoft.com/office/drawing/2014/main" id="{1A1F9CC9-1431-4569-B2F1-D04814955381}"/>
              </a:ext>
            </a:extLst>
          </p:cNvPr>
          <p:cNvSpPr>
            <a:spLocks noGrp="1"/>
          </p:cNvSpPr>
          <p:nvPr>
            <p:ph type="sldNum" sz="quarter" idx="4"/>
          </p:nvPr>
        </p:nvSpPr>
        <p:spPr>
          <a:xfrm>
            <a:off x="11786616" y="6007608"/>
            <a:ext cx="411480" cy="365125"/>
          </a:xfrm>
          <a:prstGeom prst="rect">
            <a:avLst/>
          </a:prstGeom>
        </p:spPr>
        <p:txBody>
          <a:bodyPr vert="horz" lIns="45720" tIns="45720" rIns="45720" bIns="45720" rtlCol="0" anchor="ctr"/>
          <a:lstStyle>
            <a:lvl1pPr algn="r">
              <a:defRPr sz="900" b="1">
                <a:solidFill>
                  <a:schemeClr val="bg1"/>
                </a:solidFill>
              </a:defRPr>
            </a:lvl1pPr>
          </a:lstStyle>
          <a:p>
            <a:pPr algn="ctr"/>
            <a:fld id="{D79E6812-DF0E-4B88-AFAA-EAC7168F54C0}" type="slidenum">
              <a:rPr lang="en-US" smtClean="0"/>
              <a:pPr algn="ctr"/>
              <a:t>‹#›</a:t>
            </a:fld>
            <a:endParaRPr lang="en-US"/>
          </a:p>
        </p:txBody>
      </p:sp>
    </p:spTree>
    <p:extLst>
      <p:ext uri="{BB962C8B-B14F-4D97-AF65-F5344CB8AC3E}">
        <p14:creationId xmlns:p14="http://schemas.microsoft.com/office/powerpoint/2010/main" val="2722818843"/>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txStyles>
    <p:titleStyle>
      <a:lvl1pPr algn="l" defTabSz="914400" rtl="0" eaLnBrk="1" latinLnBrk="0" hangingPunct="1">
        <a:lnSpc>
          <a:spcPct val="90000"/>
        </a:lnSpc>
        <a:spcBef>
          <a:spcPct val="0"/>
        </a:spcBef>
        <a:buNone/>
        <a:defRPr sz="6000" i="1" kern="1200" spc="100" baseline="0">
          <a:solidFill>
            <a:schemeClr val="tx1">
              <a:lumMod val="85000"/>
              <a:lumOff val="15000"/>
            </a:schemeClr>
          </a:solidFill>
          <a:latin typeface="+mj-lt"/>
          <a:ea typeface="+mj-ea"/>
          <a:cs typeface="+mj-cs"/>
        </a:defRPr>
      </a:lvl1pPr>
    </p:titleStyle>
    <p:bodyStyle>
      <a:lvl1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2000" kern="1200">
          <a:solidFill>
            <a:schemeClr val="tx1">
              <a:lumMod val="85000"/>
              <a:lumOff val="15000"/>
            </a:schemeClr>
          </a:solidFill>
          <a:latin typeface="+mn-lt"/>
          <a:ea typeface="+mn-ea"/>
          <a:cs typeface="+mn-cs"/>
        </a:defRPr>
      </a:lvl1pPr>
      <a:lvl2pPr marL="182880" indent="0" algn="l" defTabSz="914400" rtl="0" eaLnBrk="1" latinLnBrk="0" hangingPunct="1">
        <a:lnSpc>
          <a:spcPct val="110000"/>
        </a:lnSpc>
        <a:spcBef>
          <a:spcPts val="400"/>
        </a:spcBef>
        <a:spcAft>
          <a:spcPts val="400"/>
        </a:spcAft>
        <a:buClrTx/>
        <a:buFont typeface="Arial" panose="020B0604020202020204" pitchFamily="34" charset="0"/>
        <a:buNone/>
        <a:defRPr sz="1800" i="1" kern="1200">
          <a:solidFill>
            <a:schemeClr val="tx1">
              <a:lumMod val="85000"/>
              <a:lumOff val="15000"/>
            </a:schemeClr>
          </a:solidFill>
          <a:latin typeface="+mn-lt"/>
          <a:ea typeface="+mn-ea"/>
          <a:cs typeface="+mn-cs"/>
        </a:defRPr>
      </a:lvl2pPr>
      <a:lvl3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600" kern="1200">
          <a:solidFill>
            <a:schemeClr val="tx1">
              <a:lumMod val="85000"/>
              <a:lumOff val="15000"/>
            </a:schemeClr>
          </a:solidFill>
          <a:latin typeface="+mn-lt"/>
          <a:ea typeface="+mn-ea"/>
          <a:cs typeface="+mn-cs"/>
        </a:defRPr>
      </a:lvl3pPr>
      <a:lvl4pPr marL="182880" indent="0" algn="l" defTabSz="914400" rtl="0" eaLnBrk="1" latinLnBrk="0" hangingPunct="1">
        <a:lnSpc>
          <a:spcPct val="110000"/>
        </a:lnSpc>
        <a:spcBef>
          <a:spcPts val="400"/>
        </a:spcBef>
        <a:spcAft>
          <a:spcPts val="400"/>
        </a:spcAft>
        <a:buClrTx/>
        <a:buFont typeface="Arial" panose="020B0604020202020204" pitchFamily="34" charset="0"/>
        <a:buNone/>
        <a:defRPr sz="1400" i="1" kern="1200">
          <a:solidFill>
            <a:schemeClr val="tx1">
              <a:lumMod val="85000"/>
              <a:lumOff val="15000"/>
            </a:schemeClr>
          </a:solidFill>
          <a:latin typeface="+mn-lt"/>
          <a:ea typeface="+mn-ea"/>
          <a:cs typeface="+mn-cs"/>
        </a:defRPr>
      </a:lvl4pPr>
      <a:lvl5pPr marL="182880" indent="-182880" algn="l" defTabSz="914400" rtl="0" eaLnBrk="1" latinLnBrk="0" hangingPunct="1">
        <a:lnSpc>
          <a:spcPct val="110000"/>
        </a:lnSpc>
        <a:spcBef>
          <a:spcPts val="400"/>
        </a:spcBef>
        <a:spcAft>
          <a:spcPts val="400"/>
        </a:spcAft>
        <a:buClrTx/>
        <a:buFont typeface="Arial" panose="020B0604020202020204" pitchFamily="34" charset="0"/>
        <a:buChar char="•"/>
        <a:defRPr sz="1400" kern="1200">
          <a:solidFill>
            <a:schemeClr val="tx1">
              <a:lumMod val="85000"/>
              <a:lumOff val="1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5B419A7-F817-4767-8CCB-FB0E189C4A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Video 3" descr="Vinyl Playing">
            <a:extLst>
              <a:ext uri="{FF2B5EF4-FFF2-40B4-BE49-F238E27FC236}">
                <a16:creationId xmlns:a16="http://schemas.microsoft.com/office/drawing/2014/main" id="{CADED495-45DA-3C8E-F14F-00FA7341FEC1}"/>
              </a:ext>
            </a:extLst>
          </p:cNvPr>
          <p:cNvPicPr>
            <a:picLocks noChangeAspect="1"/>
          </p:cNvPicPr>
          <p:nvPr>
            <a:videoFile r:link="rId2"/>
            <p:extLst>
              <p:ext uri="{DAA4B4D4-6D71-4841-9C94-3DE7FCFB9230}">
                <p14:media xmlns:p14="http://schemas.microsoft.com/office/powerpoint/2010/main" r:embed="rId1"/>
              </p:ext>
            </p:extLst>
          </p:nvPr>
        </p:nvPicPr>
        <p:blipFill>
          <a:blip r:embed="rId4"/>
          <a:srcRect r="1" b="285"/>
          <a:stretch/>
        </p:blipFill>
        <p:spPr>
          <a:xfrm>
            <a:off x="1" y="10"/>
            <a:ext cx="12191999" cy="6857990"/>
          </a:xfrm>
          <a:prstGeom prst="rect">
            <a:avLst/>
          </a:prstGeom>
        </p:spPr>
      </p:pic>
      <p:sp>
        <p:nvSpPr>
          <p:cNvPr id="11" name="Rectangle 10">
            <a:extLst>
              <a:ext uri="{FF2B5EF4-FFF2-40B4-BE49-F238E27FC236}">
                <a16:creationId xmlns:a16="http://schemas.microsoft.com/office/drawing/2014/main" id="{2B76CDF1-6A1E-445E-91B6-686D6C9178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60126" y="-1373875"/>
            <a:ext cx="6858000" cy="9605749"/>
          </a:xfrm>
          <a:prstGeom prst="rect">
            <a:avLst/>
          </a:prstGeom>
          <a:gradFill>
            <a:gsLst>
              <a:gs pos="100000">
                <a:srgbClr val="000000">
                  <a:alpha val="0"/>
                </a:srgbClr>
              </a:gs>
              <a:gs pos="0">
                <a:schemeClr val="tx1"/>
              </a:gs>
              <a:gs pos="0">
                <a:srgbClr val="000000">
                  <a:alpha val="75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D8701E-02A2-4C89-C02F-96FA865D1332}"/>
              </a:ext>
            </a:extLst>
          </p:cNvPr>
          <p:cNvSpPr>
            <a:spLocks noGrp="1"/>
          </p:cNvSpPr>
          <p:nvPr>
            <p:ph type="ctrTitle"/>
          </p:nvPr>
        </p:nvSpPr>
        <p:spPr>
          <a:xfrm>
            <a:off x="6170624" y="1143000"/>
            <a:ext cx="5303520" cy="2984701"/>
          </a:xfrm>
        </p:spPr>
        <p:txBody>
          <a:bodyPr anchor="b">
            <a:normAutofit/>
          </a:bodyPr>
          <a:lstStyle/>
          <a:p>
            <a:r>
              <a:rPr lang="en-US" sz="6000">
                <a:solidFill>
                  <a:srgbClr val="FFFFFF"/>
                </a:solidFill>
              </a:rPr>
              <a:t>Pop Music Culture Spotify Data Analysis</a:t>
            </a:r>
          </a:p>
        </p:txBody>
      </p:sp>
      <p:sp>
        <p:nvSpPr>
          <p:cNvPr id="3" name="Subtitle 2">
            <a:extLst>
              <a:ext uri="{FF2B5EF4-FFF2-40B4-BE49-F238E27FC236}">
                <a16:creationId xmlns:a16="http://schemas.microsoft.com/office/drawing/2014/main" id="{057D6966-725F-438E-6958-88F50FB1389D}"/>
              </a:ext>
            </a:extLst>
          </p:cNvPr>
          <p:cNvSpPr>
            <a:spLocks noGrp="1"/>
          </p:cNvSpPr>
          <p:nvPr>
            <p:ph type="subTitle" idx="1"/>
          </p:nvPr>
        </p:nvSpPr>
        <p:spPr>
          <a:xfrm>
            <a:off x="6170624" y="4452109"/>
            <a:ext cx="5259376" cy="1318071"/>
          </a:xfrm>
        </p:spPr>
        <p:txBody>
          <a:bodyPr>
            <a:normAutofit/>
          </a:bodyPr>
          <a:lstStyle/>
          <a:p>
            <a:r>
              <a:rPr lang="en-US">
                <a:solidFill>
                  <a:srgbClr val="FFFFFF"/>
                </a:solidFill>
              </a:rPr>
              <a:t>By Alex Vo, Joshua </a:t>
            </a:r>
            <a:r>
              <a:rPr lang="en-US" err="1">
                <a:solidFill>
                  <a:srgbClr val="FFFFFF"/>
                </a:solidFill>
              </a:rPr>
              <a:t>Villasuso</a:t>
            </a:r>
            <a:r>
              <a:rPr lang="en-US">
                <a:solidFill>
                  <a:srgbClr val="FFFFFF"/>
                </a:solidFill>
              </a:rPr>
              <a:t>, &amp; Aaron Rios</a:t>
            </a:r>
          </a:p>
        </p:txBody>
      </p:sp>
      <p:cxnSp>
        <p:nvCxnSpPr>
          <p:cNvPr id="13" name="Straight Connector 12">
            <a:extLst>
              <a:ext uri="{FF2B5EF4-FFF2-40B4-BE49-F238E27FC236}">
                <a16:creationId xmlns:a16="http://schemas.microsoft.com/office/drawing/2014/main" id="{17726E8A-324C-4684-96F2-AFDDFB2F144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6238864" y="4291242"/>
            <a:ext cx="521208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15" name="Freeform 6">
            <a:extLst>
              <a:ext uri="{FF2B5EF4-FFF2-40B4-BE49-F238E27FC236}">
                <a16:creationId xmlns:a16="http://schemas.microsoft.com/office/drawing/2014/main" id="{7021D92D-08FF-45A6-9109-AC9462C7E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8152"/>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412448790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0010"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4"/>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4"/>
                                        </p:tgtEl>
                                      </p:cBhvr>
                                    </p:cmd>
                                  </p:childTnLst>
                                </p:cTn>
                              </p:par>
                            </p:childTnLst>
                          </p:cTn>
                        </p:par>
                      </p:childTnLst>
                    </p:cTn>
                  </p:par>
                </p:childTnLst>
              </p:cTn>
              <p:nextCondLst>
                <p:cond evt="onClick" delay="0">
                  <p:tgtEl>
                    <p:spTgt spid="4"/>
                  </p:tgtEl>
                </p:cond>
              </p:nextCondLst>
            </p:seq>
            <p:video>
              <p:cMediaNode mute="1">
                <p:cTn id="12" repeatCount="indefinite" fill="hold" display="0">
                  <p:stCondLst>
                    <p:cond delay="indefinite"/>
                  </p:stCondLst>
                </p:cTn>
                <p:tgtEl>
                  <p:spTgt spid="4"/>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7BBE0A-603D-4D9A-C1B8-923A8E96991B}"/>
              </a:ext>
            </a:extLst>
          </p:cNvPr>
          <p:cNvSpPr>
            <a:spLocks noGrp="1"/>
          </p:cNvSpPr>
          <p:nvPr>
            <p:ph type="title"/>
          </p:nvPr>
        </p:nvSpPr>
        <p:spPr>
          <a:xfrm>
            <a:off x="5148335" y="758952"/>
            <a:ext cx="6281663" cy="1952716"/>
          </a:xfrm>
        </p:spPr>
        <p:txBody>
          <a:bodyPr anchor="ctr">
            <a:normAutofit/>
          </a:bodyPr>
          <a:lstStyle/>
          <a:p>
            <a:r>
              <a:rPr lang="en-US"/>
              <a:t>Introduction</a:t>
            </a:r>
          </a:p>
        </p:txBody>
      </p:sp>
      <p:pic>
        <p:nvPicPr>
          <p:cNvPr id="4" name="Picture 2" descr="Spotify Songs Wallpapers - Wallpaper Cave">
            <a:extLst>
              <a:ext uri="{FF2B5EF4-FFF2-40B4-BE49-F238E27FC236}">
                <a16:creationId xmlns:a16="http://schemas.microsoft.com/office/drawing/2014/main" id="{04160CA9-24DA-CBCB-AB97-5EDAF421D6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 b="6740"/>
          <a:stretch/>
        </p:blipFill>
        <p:spPr bwMode="auto">
          <a:xfrm>
            <a:off x="20" y="10"/>
            <a:ext cx="4595888" cy="6857990"/>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Straight Connector 10">
            <a:extLst>
              <a:ext uri="{FF2B5EF4-FFF2-40B4-BE49-F238E27FC236}">
                <a16:creationId xmlns:a16="http://schemas.microsoft.com/office/drawing/2014/main" id="{DF96FA98-52E5-4AA7-98B9-BE6200CF01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181601" y="2933080"/>
            <a:ext cx="6248397"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B5DC26C2-65DE-BD21-9769-793C1E0EF162}"/>
              </a:ext>
            </a:extLst>
          </p:cNvPr>
          <p:cNvSpPr>
            <a:spLocks noGrp="1"/>
          </p:cNvSpPr>
          <p:nvPr>
            <p:ph idx="1"/>
          </p:nvPr>
        </p:nvSpPr>
        <p:spPr>
          <a:xfrm>
            <a:off x="5148208" y="3161680"/>
            <a:ext cx="6281663" cy="2620409"/>
          </a:xfrm>
        </p:spPr>
        <p:txBody>
          <a:bodyPr>
            <a:normAutofit fontScale="62500" lnSpcReduction="20000"/>
          </a:bodyPr>
          <a:lstStyle/>
          <a:p>
            <a:r>
              <a:rPr lang="en-US"/>
              <a:t>In this project, we will be analyzing pop tracks from only one artist to two music artists and the years ranging from today to 1930.</a:t>
            </a:r>
          </a:p>
          <a:p>
            <a:r>
              <a:rPr lang="en-US"/>
              <a:t>Our team is exploring each track and discover the different music subgenres that fit under the pop music umbrella.</a:t>
            </a:r>
          </a:p>
          <a:p>
            <a:r>
              <a:rPr lang="en-US"/>
              <a:t>Data is analyzed by track name, number of streams, music brand playlists and charts from Apple, Deezer, Shazam, and Spotify.</a:t>
            </a:r>
          </a:p>
          <a:p>
            <a:r>
              <a:rPr lang="en-US"/>
              <a:t>Tracks in the Spotify file can also be analyzed based on the amount of energy, danceability, instrumentalness, and speechness.</a:t>
            </a:r>
          </a:p>
          <a:p>
            <a:r>
              <a:rPr lang="en-US"/>
              <a:t>Our topic question: </a:t>
            </a:r>
            <a:r>
              <a:rPr lang="en-US" b="0" i="0" u="none" strike="noStrike">
                <a:solidFill>
                  <a:srgbClr val="000000"/>
                </a:solidFill>
                <a:effectLst/>
              </a:rPr>
              <a:t>How does pop music build different music subgenres such as hip-hop and indie which helps bring the music industry?</a:t>
            </a:r>
            <a:endParaRPr lang="en-US"/>
          </a:p>
          <a:p>
            <a:endParaRPr lang="en-US"/>
          </a:p>
        </p:txBody>
      </p:sp>
      <p:sp>
        <p:nvSpPr>
          <p:cNvPr id="13"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935094123"/>
      </p:ext>
    </p:extLst>
  </p:cSld>
  <p:clrMapOvr>
    <a:masterClrMapping/>
  </p:clrMapOvr>
  <mc:AlternateContent xmlns:mc="http://schemas.openxmlformats.org/markup-compatibility/2006" xmlns:p14="http://schemas.microsoft.com/office/powerpoint/2010/main">
    <mc:Choice Requires="p14">
      <p:transition spd="slow" p14:dur="2500">
        <p:checker/>
      </p:transition>
    </mc:Choice>
    <mc:Fallback xmlns="">
      <p:transition spd="slow">
        <p:checker/>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89CC61-90AC-7E4E-FDFB-AC2F07DE9AD3}"/>
              </a:ext>
            </a:extLst>
          </p:cNvPr>
          <p:cNvSpPr>
            <a:spLocks noGrp="1"/>
          </p:cNvSpPr>
          <p:nvPr>
            <p:ph type="title"/>
          </p:nvPr>
        </p:nvSpPr>
        <p:spPr>
          <a:xfrm>
            <a:off x="758952" y="758951"/>
            <a:ext cx="4782039" cy="1966747"/>
          </a:xfrm>
        </p:spPr>
        <p:txBody>
          <a:bodyPr anchor="ctr">
            <a:normAutofit/>
          </a:bodyPr>
          <a:lstStyle/>
          <a:p>
            <a:r>
              <a:rPr lang="en-US"/>
              <a:t>Methodology</a:t>
            </a:r>
          </a:p>
        </p:txBody>
      </p:sp>
      <p:cxnSp>
        <p:nvCxnSpPr>
          <p:cNvPr id="1033" name="Straight Connector 1032">
            <a:extLst>
              <a:ext uri="{FF2B5EF4-FFF2-40B4-BE49-F238E27FC236}">
                <a16:creationId xmlns:a16="http://schemas.microsoft.com/office/drawing/2014/main" id="{AEF97C72-3F89-4F0A-9629-01818B389CF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738503" y="2954301"/>
            <a:ext cx="4754880"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89B876A6-8794-2691-F0CB-3E71ECB4501C}"/>
              </a:ext>
            </a:extLst>
          </p:cNvPr>
          <p:cNvSpPr>
            <a:spLocks noGrp="1"/>
          </p:cNvSpPr>
          <p:nvPr>
            <p:ph idx="1"/>
          </p:nvPr>
        </p:nvSpPr>
        <p:spPr>
          <a:xfrm>
            <a:off x="758826" y="3161684"/>
            <a:ext cx="4782166" cy="2620405"/>
          </a:xfrm>
        </p:spPr>
        <p:txBody>
          <a:bodyPr>
            <a:normAutofit fontScale="62500" lnSpcReduction="20000"/>
          </a:bodyPr>
          <a:lstStyle/>
          <a:p>
            <a:r>
              <a:rPr lang="en-US"/>
              <a:t>We analyzed the tree map built on Tableau based on discovering the greatest number of streams for each pop music song. </a:t>
            </a:r>
          </a:p>
          <a:p>
            <a:r>
              <a:rPr lang="en-US"/>
              <a:t>We created a calculated field based on the sum of streams and the count of each track.</a:t>
            </a:r>
          </a:p>
          <a:p>
            <a:r>
              <a:rPr lang="en-US"/>
              <a:t>We developed a music chart analysis to filter out each artist that is mostly or least streamed in music charts such as Apple Music, Deezer, Shazam, and Spotify.</a:t>
            </a:r>
          </a:p>
          <a:p>
            <a:r>
              <a:rPr lang="en-US"/>
              <a:t>We cleaned up the Excel by finding missing cells in each columns from Excel, determine the structure of our data, trim out letter characters from left, remove any potential duplicates, and more.</a:t>
            </a:r>
          </a:p>
        </p:txBody>
      </p:sp>
      <p:pic>
        <p:nvPicPr>
          <p:cNvPr id="1026" name="Picture 2" descr="Browse categories… : r/AppleMusic">
            <a:extLst>
              <a:ext uri="{FF2B5EF4-FFF2-40B4-BE49-F238E27FC236}">
                <a16:creationId xmlns:a16="http://schemas.microsoft.com/office/drawing/2014/main" id="{C8404709-A213-2233-2F8E-5A12D2B16A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26011" r="-1" b="21957"/>
          <a:stretch/>
        </p:blipFill>
        <p:spPr bwMode="auto">
          <a:xfrm>
            <a:off x="6096000" y="10"/>
            <a:ext cx="6095998"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5"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87601954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572650-9A52-6DA4-7550-CCC79DB78968}"/>
              </a:ext>
            </a:extLst>
          </p:cNvPr>
          <p:cNvSpPr>
            <a:spLocks noGrp="1"/>
          </p:cNvSpPr>
          <p:nvPr>
            <p:ph type="title"/>
          </p:nvPr>
        </p:nvSpPr>
        <p:spPr>
          <a:xfrm>
            <a:off x="7885744" y="691762"/>
            <a:ext cx="3541205" cy="1706649"/>
          </a:xfrm>
        </p:spPr>
        <p:txBody>
          <a:bodyPr anchor="ctr">
            <a:normAutofit/>
          </a:bodyPr>
          <a:lstStyle/>
          <a:p>
            <a:r>
              <a:rPr lang="en-US" sz="4800"/>
              <a:t>Tree map Analysis</a:t>
            </a:r>
          </a:p>
        </p:txBody>
      </p:sp>
      <p:pic>
        <p:nvPicPr>
          <p:cNvPr id="7" name="Picture 6">
            <a:extLst>
              <a:ext uri="{FF2B5EF4-FFF2-40B4-BE49-F238E27FC236}">
                <a16:creationId xmlns:a16="http://schemas.microsoft.com/office/drawing/2014/main" id="{996D72CC-C7B6-13CB-8CE8-2295583F5FBB}"/>
              </a:ext>
            </a:extLst>
          </p:cNvPr>
          <p:cNvPicPr>
            <a:picLocks noChangeAspect="1"/>
          </p:cNvPicPr>
          <p:nvPr/>
        </p:nvPicPr>
        <p:blipFill>
          <a:blip r:embed="rId2"/>
          <a:stretch>
            <a:fillRect/>
          </a:stretch>
        </p:blipFill>
        <p:spPr>
          <a:xfrm>
            <a:off x="758953" y="1565407"/>
            <a:ext cx="6301805" cy="3339955"/>
          </a:xfrm>
          <a:prstGeom prst="rect">
            <a:avLst/>
          </a:prstGeom>
        </p:spPr>
      </p:pic>
      <p:cxnSp>
        <p:nvCxnSpPr>
          <p:cNvPr id="21" name="Straight Connector 20">
            <a:extLst>
              <a:ext uri="{FF2B5EF4-FFF2-40B4-BE49-F238E27FC236}">
                <a16:creationId xmlns:a16="http://schemas.microsoft.com/office/drawing/2014/main" id="{61A0812C-8DCE-4CA2-904B-A5A5C12CA4F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2660" y="1005840"/>
            <a:ext cx="0" cy="58521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EBF60D3-021C-83B8-1259-FB04E5176545}"/>
              </a:ext>
            </a:extLst>
          </p:cNvPr>
          <p:cNvSpPr>
            <a:spLocks noGrp="1"/>
          </p:cNvSpPr>
          <p:nvPr>
            <p:ph idx="1"/>
          </p:nvPr>
        </p:nvSpPr>
        <p:spPr>
          <a:xfrm>
            <a:off x="7888666" y="2623930"/>
            <a:ext cx="3541205" cy="3158160"/>
          </a:xfrm>
        </p:spPr>
        <p:txBody>
          <a:bodyPr vert="horz" lIns="91440" tIns="45720" rIns="91440" bIns="45720" rtlCol="0" anchor="t">
            <a:normAutofit fontScale="70000" lnSpcReduction="20000"/>
          </a:bodyPr>
          <a:lstStyle/>
          <a:p>
            <a:r>
              <a:rPr lang="en-US" dirty="0"/>
              <a:t>As you can see here:</a:t>
            </a:r>
          </a:p>
          <a:p>
            <a:r>
              <a:rPr lang="en-US" dirty="0"/>
              <a:t>the most listened to track on Spotify was Smells Like Teen Spirit – Remastered 2021, with a total of 1,690,192,927 streams.</a:t>
            </a:r>
          </a:p>
          <a:p>
            <a:r>
              <a:rPr lang="en-US" dirty="0"/>
              <a:t>The least listened to track on </a:t>
            </a:r>
            <a:r>
              <a:rPr lang="en-US" dirty="0" err="1"/>
              <a:t>spotify</a:t>
            </a:r>
            <a:r>
              <a:rPr lang="en-US" dirty="0"/>
              <a:t> was Too Late, with a total of 49,262,961</a:t>
            </a:r>
          </a:p>
          <a:p>
            <a:r>
              <a:rPr lang="en-US" dirty="0"/>
              <a:t>Pop music is used in social media posts in many ways, including promoting music, connecting with fans, sharing music, influencing social media, and creating a subgenre.</a:t>
            </a:r>
          </a:p>
        </p:txBody>
      </p:sp>
      <p:sp>
        <p:nvSpPr>
          <p:cNvPr id="23"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024502590"/>
      </p:ext>
    </p:extLst>
  </p:cSld>
  <p:clrMapOvr>
    <a:overrideClrMapping bg1="dk1" tx1="lt1" bg2="dk2" tx2="lt2" accent1="accent1" accent2="accent2" accent3="accent3" accent4="accent4" accent5="accent5" accent6="accent6" hlink="hlink" folHlink="folHlink"/>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42" name="Rectangle 41">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F445720-7E3C-4A46-FE88-CA1C49E39847}"/>
              </a:ext>
            </a:extLst>
          </p:cNvPr>
          <p:cNvSpPr>
            <a:spLocks noGrp="1"/>
          </p:cNvSpPr>
          <p:nvPr>
            <p:ph type="title"/>
          </p:nvPr>
        </p:nvSpPr>
        <p:spPr>
          <a:xfrm>
            <a:off x="1068497" y="1063256"/>
            <a:ext cx="5312254" cy="1540106"/>
          </a:xfrm>
        </p:spPr>
        <p:txBody>
          <a:bodyPr vert="horz" lIns="91440" tIns="45720" rIns="91440" bIns="45720" rtlCol="0">
            <a:normAutofit/>
          </a:bodyPr>
          <a:lstStyle/>
          <a:p>
            <a:r>
              <a:rPr lang="en-US" sz="5600" i="1" kern="1200" spc="100" baseline="0">
                <a:latin typeface="+mj-lt"/>
                <a:ea typeface="+mj-ea"/>
                <a:cs typeface="+mj-cs"/>
              </a:rPr>
              <a:t>Bar chart analysis</a:t>
            </a:r>
          </a:p>
        </p:txBody>
      </p:sp>
      <p:cxnSp>
        <p:nvCxnSpPr>
          <p:cNvPr id="44" name="Straight Connector 43">
            <a:extLst>
              <a:ext uri="{FF2B5EF4-FFF2-40B4-BE49-F238E27FC236}">
                <a16:creationId xmlns:a16="http://schemas.microsoft.com/office/drawing/2014/main" id="{33862825-C012-4895-A17E-F3D1F62D89D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8952" y="1143293"/>
            <a:ext cx="0" cy="5714707"/>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D5E0F9ED-77F2-4F66-7AEE-2A93796FAE0C}"/>
              </a:ext>
            </a:extLst>
          </p:cNvPr>
          <p:cNvSpPr>
            <a:spLocks noGrp="1"/>
          </p:cNvSpPr>
          <p:nvPr>
            <p:ph idx="1"/>
          </p:nvPr>
        </p:nvSpPr>
        <p:spPr>
          <a:xfrm>
            <a:off x="1068497" y="2933390"/>
            <a:ext cx="5312254" cy="2861349"/>
          </a:xfrm>
        </p:spPr>
        <p:txBody>
          <a:bodyPr vert="horz" lIns="91440" tIns="45720" rIns="91440" bIns="45720" rtlCol="0">
            <a:normAutofit/>
          </a:bodyPr>
          <a:lstStyle/>
          <a:p>
            <a:pPr>
              <a:lnSpc>
                <a:spcPct val="100000"/>
              </a:lnSpc>
            </a:pPr>
            <a:r>
              <a:rPr lang="en-US" sz="1300"/>
              <a:t>While filtering out the six artists, Drake, Linkin Park, Mac DeMarco, Metallica, Nirvana, and Wham! by the Shazam, Deezer, Spotify, Apple Charts, you can see that in Shazam Charts in specific, Drake and Nirvana were dominating the other artists.</a:t>
            </a:r>
          </a:p>
          <a:p>
            <a:pPr>
              <a:lnSpc>
                <a:spcPct val="100000"/>
              </a:lnSpc>
            </a:pPr>
            <a:r>
              <a:rPr lang="en-US" sz="1300"/>
              <a:t>You can also see that Drake and Nirvana were dominating half of the four charts, except for Spotify and Deezer.</a:t>
            </a:r>
          </a:p>
          <a:p>
            <a:pPr>
              <a:lnSpc>
                <a:spcPct val="100000"/>
              </a:lnSpc>
            </a:pPr>
            <a:r>
              <a:rPr lang="en-US" sz="1300"/>
              <a:t>From the Spotify charts, the only band that was dominating is Linkin Park.</a:t>
            </a:r>
          </a:p>
          <a:p>
            <a:pPr>
              <a:lnSpc>
                <a:spcPct val="100000"/>
              </a:lnSpc>
            </a:pPr>
            <a:r>
              <a:rPr lang="en-US" sz="1300"/>
              <a:t>Nirvana’s chart performance is at their peak in all of the charts, unlike </a:t>
            </a:r>
            <a:r>
              <a:rPr lang="en-US" sz="1300" err="1"/>
              <a:t>Wham!’s</a:t>
            </a:r>
            <a:r>
              <a:rPr lang="en-US" sz="1300"/>
              <a:t> chart having a downfall by their cult following.</a:t>
            </a:r>
          </a:p>
          <a:p>
            <a:pPr marL="457200" indent="-457200">
              <a:lnSpc>
                <a:spcPct val="100000"/>
              </a:lnSpc>
              <a:buAutoNum type="arabicPeriod"/>
            </a:pPr>
            <a:endParaRPr lang="en-US" sz="1300"/>
          </a:p>
        </p:txBody>
      </p:sp>
      <p:sp>
        <p:nvSpPr>
          <p:cNvPr id="46" name="Freeform: Shape 45">
            <a:extLst>
              <a:ext uri="{FF2B5EF4-FFF2-40B4-BE49-F238E27FC236}">
                <a16:creationId xmlns:a16="http://schemas.microsoft.com/office/drawing/2014/main" id="{CAF8A158-E51E-4253-820B-3970F73976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976934" y="0"/>
            <a:ext cx="5215066" cy="6858000"/>
          </a:xfrm>
          <a:custGeom>
            <a:avLst/>
            <a:gdLst>
              <a:gd name="connsiteX0" fmla="*/ 2017353 w 5215066"/>
              <a:gd name="connsiteY0" fmla="*/ 0 h 6858000"/>
              <a:gd name="connsiteX1" fmla="*/ 5215066 w 5215066"/>
              <a:gd name="connsiteY1" fmla="*/ 0 h 6858000"/>
              <a:gd name="connsiteX2" fmla="*/ 5215066 w 5215066"/>
              <a:gd name="connsiteY2" fmla="*/ 6858000 h 6858000"/>
              <a:gd name="connsiteX3" fmla="*/ 1292431 w 5215066"/>
              <a:gd name="connsiteY3" fmla="*/ 6858000 h 6858000"/>
              <a:gd name="connsiteX4" fmla="*/ 1012702 w 5215066"/>
              <a:gd name="connsiteY4" fmla="*/ 6549681 h 6858000"/>
              <a:gd name="connsiteX5" fmla="*/ 0 w 5215066"/>
              <a:gd name="connsiteY5" fmla="*/ 3723759 h 6858000"/>
              <a:gd name="connsiteX6" fmla="*/ 1955279 w 5215066"/>
              <a:gd name="connsiteY6" fmla="*/ 3986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215066" h="6858000">
                <a:moveTo>
                  <a:pt x="2017353" y="0"/>
                </a:moveTo>
                <a:lnTo>
                  <a:pt x="5215066" y="0"/>
                </a:lnTo>
                <a:lnTo>
                  <a:pt x="5215066" y="6858000"/>
                </a:lnTo>
                <a:lnTo>
                  <a:pt x="1292431" y="6858000"/>
                </a:lnTo>
                <a:lnTo>
                  <a:pt x="1012702" y="6549681"/>
                </a:lnTo>
                <a:cubicBezTo>
                  <a:pt x="380046" y="5781733"/>
                  <a:pt x="0" y="4797206"/>
                  <a:pt x="0" y="3723759"/>
                </a:cubicBezTo>
                <a:cubicBezTo>
                  <a:pt x="0" y="2190263"/>
                  <a:pt x="775604" y="838237"/>
                  <a:pt x="1955279" y="39865"/>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6" name="Picture 5" descr="A screenshot of a graph&#10;&#10;Description automatically generated">
            <a:extLst>
              <a:ext uri="{FF2B5EF4-FFF2-40B4-BE49-F238E27FC236}">
                <a16:creationId xmlns:a16="http://schemas.microsoft.com/office/drawing/2014/main" id="{AFC7CCCE-C93E-D261-EF09-F76B61483758}"/>
              </a:ext>
            </a:extLst>
          </p:cNvPr>
          <p:cNvPicPr>
            <a:picLocks noChangeAspect="1"/>
          </p:cNvPicPr>
          <p:nvPr/>
        </p:nvPicPr>
        <p:blipFill>
          <a:blip r:embed="rId2"/>
          <a:stretch>
            <a:fillRect/>
          </a:stretch>
        </p:blipFill>
        <p:spPr>
          <a:xfrm>
            <a:off x="9005828" y="1240403"/>
            <a:ext cx="1723480" cy="4281938"/>
          </a:xfrm>
          <a:prstGeom prst="rect">
            <a:avLst/>
          </a:prstGeom>
        </p:spPr>
      </p:pic>
      <p:sp>
        <p:nvSpPr>
          <p:cNvPr id="48"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bg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141225432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slow" p14:dur="2000">
        <p15:prstTrans prst="crush"/>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tint val="98000"/>
            <a:satMod val="170000"/>
          </a:schemeClr>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B2E0CB-E612-B704-8FFB-BC5053C120AF}"/>
              </a:ext>
            </a:extLst>
          </p:cNvPr>
          <p:cNvSpPr>
            <a:spLocks noGrp="1"/>
          </p:cNvSpPr>
          <p:nvPr>
            <p:ph type="title"/>
          </p:nvPr>
        </p:nvSpPr>
        <p:spPr>
          <a:xfrm>
            <a:off x="7885744" y="691762"/>
            <a:ext cx="3541205" cy="1706649"/>
          </a:xfrm>
        </p:spPr>
        <p:txBody>
          <a:bodyPr anchor="ctr">
            <a:normAutofit/>
          </a:bodyPr>
          <a:lstStyle/>
          <a:p>
            <a:r>
              <a:rPr lang="en-US" sz="4800"/>
              <a:t>Text table analysis</a:t>
            </a:r>
          </a:p>
        </p:txBody>
      </p:sp>
      <p:pic>
        <p:nvPicPr>
          <p:cNvPr id="5" name="Picture 4" descr="A screenshot of a computer&#10;&#10;Description automatically generated">
            <a:extLst>
              <a:ext uri="{FF2B5EF4-FFF2-40B4-BE49-F238E27FC236}">
                <a16:creationId xmlns:a16="http://schemas.microsoft.com/office/drawing/2014/main" id="{C7CD2010-8AA8-6F39-6AFB-B81CFC56053E}"/>
              </a:ext>
            </a:extLst>
          </p:cNvPr>
          <p:cNvPicPr>
            <a:picLocks noChangeAspect="1"/>
          </p:cNvPicPr>
          <p:nvPr/>
        </p:nvPicPr>
        <p:blipFill>
          <a:blip r:embed="rId2"/>
          <a:stretch>
            <a:fillRect/>
          </a:stretch>
        </p:blipFill>
        <p:spPr>
          <a:xfrm>
            <a:off x="2936920" y="691763"/>
            <a:ext cx="1945870" cy="5087244"/>
          </a:xfrm>
          <a:prstGeom prst="rect">
            <a:avLst/>
          </a:prstGeom>
        </p:spPr>
      </p:pic>
      <p:cxnSp>
        <p:nvCxnSpPr>
          <p:cNvPr id="17" name="Straight Connector 16">
            <a:extLst>
              <a:ext uri="{FF2B5EF4-FFF2-40B4-BE49-F238E27FC236}">
                <a16:creationId xmlns:a16="http://schemas.microsoft.com/office/drawing/2014/main" id="{61A0812C-8DCE-4CA2-904B-A5A5C12CA4F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2660" y="1005840"/>
            <a:ext cx="0" cy="585216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2">
            <a:extLst>
              <a:ext uri="{FF2B5EF4-FFF2-40B4-BE49-F238E27FC236}">
                <a16:creationId xmlns:a16="http://schemas.microsoft.com/office/drawing/2014/main" id="{A9EFB381-93C5-167F-3D8F-158F1E68C438}"/>
              </a:ext>
            </a:extLst>
          </p:cNvPr>
          <p:cNvSpPr>
            <a:spLocks noGrp="1"/>
          </p:cNvSpPr>
          <p:nvPr>
            <p:ph idx="1"/>
          </p:nvPr>
        </p:nvSpPr>
        <p:spPr>
          <a:xfrm>
            <a:off x="7888666" y="2623930"/>
            <a:ext cx="3541205" cy="3158160"/>
          </a:xfrm>
        </p:spPr>
        <p:txBody>
          <a:bodyPr>
            <a:normAutofit fontScale="62500" lnSpcReduction="20000"/>
          </a:bodyPr>
          <a:lstStyle/>
          <a:p>
            <a:pPr>
              <a:lnSpc>
                <a:spcPct val="100000"/>
              </a:lnSpc>
            </a:pPr>
            <a:r>
              <a:rPr lang="en-US"/>
              <a:t>While filtering out artists such as Bad Bunny and BLACKPINK from pop music genres such as K-pop and Latino rap, I noticed that Bad Bunny is the artist that have most of their songs saved in most Spotify playlists.</a:t>
            </a:r>
          </a:p>
          <a:p>
            <a:pPr>
              <a:lnSpc>
                <a:spcPct val="100000"/>
              </a:lnSpc>
            </a:pPr>
            <a:r>
              <a:rPr lang="en-US"/>
              <a:t>BIGBANG is the artist with the least number of Spotify playlists with the number 181.</a:t>
            </a:r>
          </a:p>
          <a:p>
            <a:pPr>
              <a:lnSpc>
                <a:spcPct val="100000"/>
              </a:lnSpc>
            </a:pPr>
            <a:r>
              <a:rPr lang="en-US"/>
              <a:t>BTS’s song Dynamite in the K-pop music subgenre has their song saved on most Spotify playlists with the number 8,528.</a:t>
            </a:r>
          </a:p>
          <a:p>
            <a:pPr>
              <a:lnSpc>
                <a:spcPct val="100000"/>
              </a:lnSpc>
            </a:pPr>
            <a:r>
              <a:rPr lang="en-US"/>
              <a:t>The text table includes a calculated field made with Tableau to calculate the SUM number of streams plus the COUNT of track names.</a:t>
            </a:r>
          </a:p>
          <a:p>
            <a:pPr>
              <a:lnSpc>
                <a:spcPct val="100000"/>
              </a:lnSpc>
            </a:pPr>
            <a:endParaRPr lang="en-US"/>
          </a:p>
        </p:txBody>
      </p:sp>
      <p:sp>
        <p:nvSpPr>
          <p:cNvPr id="18"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1"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279640954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108" name="Rectangle 2107">
            <a:extLst>
              <a:ext uri="{FF2B5EF4-FFF2-40B4-BE49-F238E27FC236}">
                <a16:creationId xmlns:a16="http://schemas.microsoft.com/office/drawing/2014/main" id="{C5176844-69C3-4F79-BE38-EA5BDDF4F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B09E44-BB53-FF44-AF6C-6743D9E1E346}"/>
              </a:ext>
            </a:extLst>
          </p:cNvPr>
          <p:cNvSpPr>
            <a:spLocks noGrp="1"/>
          </p:cNvSpPr>
          <p:nvPr>
            <p:ph type="title"/>
          </p:nvPr>
        </p:nvSpPr>
        <p:spPr>
          <a:xfrm>
            <a:off x="5181601" y="758952"/>
            <a:ext cx="6248397" cy="2142163"/>
          </a:xfrm>
        </p:spPr>
        <p:txBody>
          <a:bodyPr anchor="ctr">
            <a:normAutofit/>
          </a:bodyPr>
          <a:lstStyle/>
          <a:p>
            <a:r>
              <a:rPr lang="en-US"/>
              <a:t>Conclusion</a:t>
            </a:r>
          </a:p>
        </p:txBody>
      </p:sp>
      <p:sp>
        <p:nvSpPr>
          <p:cNvPr id="2109" name="Freeform: Shape 2108">
            <a:extLst>
              <a:ext uri="{FF2B5EF4-FFF2-40B4-BE49-F238E27FC236}">
                <a16:creationId xmlns:a16="http://schemas.microsoft.com/office/drawing/2014/main" id="{03D8E7A6-96DE-4FB2-8FD2-BD93293230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449244" y="1"/>
            <a:ext cx="4574808" cy="2514371"/>
          </a:xfrm>
          <a:custGeom>
            <a:avLst/>
            <a:gdLst>
              <a:gd name="connsiteX0" fmla="*/ 11461 w 4574808"/>
              <a:gd name="connsiteY0" fmla="*/ 0 h 2514371"/>
              <a:gd name="connsiteX1" fmla="*/ 4563348 w 4574808"/>
              <a:gd name="connsiteY1" fmla="*/ 0 h 2514371"/>
              <a:gd name="connsiteX2" fmla="*/ 4574808 w 4574808"/>
              <a:gd name="connsiteY2" fmla="*/ 226967 h 2514371"/>
              <a:gd name="connsiteX3" fmla="*/ 2287404 w 4574808"/>
              <a:gd name="connsiteY3" fmla="*/ 2514371 h 2514371"/>
              <a:gd name="connsiteX4" fmla="*/ 0 w 4574808"/>
              <a:gd name="connsiteY4" fmla="*/ 226967 h 25143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4808" h="2514371">
                <a:moveTo>
                  <a:pt x="11461" y="0"/>
                </a:moveTo>
                <a:lnTo>
                  <a:pt x="4563348" y="0"/>
                </a:lnTo>
                <a:lnTo>
                  <a:pt x="4574808" y="226967"/>
                </a:lnTo>
                <a:cubicBezTo>
                  <a:pt x="4574808" y="1490265"/>
                  <a:pt x="3550702" y="2514371"/>
                  <a:pt x="2287404" y="2514371"/>
                </a:cubicBezTo>
                <a:cubicBezTo>
                  <a:pt x="1024106" y="2514371"/>
                  <a:pt x="0" y="1490265"/>
                  <a:pt x="0" y="226967"/>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2054" name="Picture 6" descr="50 Alternative R&amp;B Songs 2023: An Alternative Soul Playlist - The Blues  Project">
            <a:extLst>
              <a:ext uri="{FF2B5EF4-FFF2-40B4-BE49-F238E27FC236}">
                <a16:creationId xmlns:a16="http://schemas.microsoft.com/office/drawing/2014/main" id="{FDD0F5C7-4897-4787-320B-9398C519E2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9877" r="2" b="2"/>
          <a:stretch/>
        </p:blipFill>
        <p:spPr bwMode="auto">
          <a:xfrm>
            <a:off x="1676388" y="302697"/>
            <a:ext cx="2102832" cy="1557633"/>
          </a:xfrm>
          <a:prstGeom prst="rect">
            <a:avLst/>
          </a:prstGeom>
          <a:noFill/>
          <a:extLst>
            <a:ext uri="{909E8E84-426E-40DD-AFC4-6F175D3DCCD1}">
              <a14:hiddenFill xmlns:a14="http://schemas.microsoft.com/office/drawing/2010/main">
                <a:solidFill>
                  <a:srgbClr val="FFFFFF"/>
                </a:solidFill>
              </a14:hiddenFill>
            </a:ext>
          </a:extLst>
        </p:spPr>
      </p:pic>
      <p:sp>
        <p:nvSpPr>
          <p:cNvPr id="2110" name="Freeform: Shape 2109">
            <a:extLst>
              <a:ext uri="{FF2B5EF4-FFF2-40B4-BE49-F238E27FC236}">
                <a16:creationId xmlns:a16="http://schemas.microsoft.com/office/drawing/2014/main" id="{650CC524-E264-4656-9CE5-A93555C997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1" y="2861772"/>
            <a:ext cx="4858645" cy="3996228"/>
          </a:xfrm>
          <a:custGeom>
            <a:avLst/>
            <a:gdLst>
              <a:gd name="connsiteX0" fmla="*/ 1464035 w 4858645"/>
              <a:gd name="connsiteY0" fmla="*/ 0 h 3996228"/>
              <a:gd name="connsiteX1" fmla="*/ 4858645 w 4858645"/>
              <a:gd name="connsiteY1" fmla="*/ 3394609 h 3996228"/>
              <a:gd name="connsiteX2" fmla="*/ 4841119 w 4858645"/>
              <a:gd name="connsiteY2" fmla="*/ 3741688 h 3996228"/>
              <a:gd name="connsiteX3" fmla="*/ 4802271 w 4858645"/>
              <a:gd name="connsiteY3" fmla="*/ 3996228 h 3996228"/>
              <a:gd name="connsiteX4" fmla="*/ 0 w 4858645"/>
              <a:gd name="connsiteY4" fmla="*/ 3996228 h 3996228"/>
              <a:gd name="connsiteX5" fmla="*/ 0 w 4858645"/>
              <a:gd name="connsiteY5" fmla="*/ 335508 h 3996228"/>
              <a:gd name="connsiteX6" fmla="*/ 142700 w 4858645"/>
              <a:gd name="connsiteY6" fmla="*/ 266765 h 3996228"/>
              <a:gd name="connsiteX7" fmla="*/ 1464035 w 4858645"/>
              <a:gd name="connsiteY7" fmla="*/ 0 h 39962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858645" h="3996228">
                <a:moveTo>
                  <a:pt x="1464035" y="0"/>
                </a:moveTo>
                <a:cubicBezTo>
                  <a:pt x="3338826" y="0"/>
                  <a:pt x="4858645" y="1519818"/>
                  <a:pt x="4858645" y="3394609"/>
                </a:cubicBezTo>
                <a:cubicBezTo>
                  <a:pt x="4858645" y="3511784"/>
                  <a:pt x="4852708" y="3627571"/>
                  <a:pt x="4841119" y="3741688"/>
                </a:cubicBezTo>
                <a:lnTo>
                  <a:pt x="4802271" y="3996228"/>
                </a:lnTo>
                <a:lnTo>
                  <a:pt x="0" y="3996228"/>
                </a:lnTo>
                <a:lnTo>
                  <a:pt x="0" y="335508"/>
                </a:lnTo>
                <a:lnTo>
                  <a:pt x="142700" y="266765"/>
                </a:lnTo>
                <a:cubicBezTo>
                  <a:pt x="548826" y="94989"/>
                  <a:pt x="995338" y="0"/>
                  <a:pt x="1464035" y="0"/>
                </a:cubicBezTo>
                <a:close/>
              </a:path>
            </a:pathLst>
          </a:cu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cxnSp>
        <p:nvCxnSpPr>
          <p:cNvPr id="2111" name="Straight Connector 2110">
            <a:extLst>
              <a:ext uri="{FF2B5EF4-FFF2-40B4-BE49-F238E27FC236}">
                <a16:creationId xmlns:a16="http://schemas.microsoft.com/office/drawing/2014/main" id="{DF96FA98-52E5-4AA7-98B9-BE6200CF01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197503" y="3124705"/>
            <a:ext cx="6248397" cy="0"/>
          </a:xfrm>
          <a:prstGeom prst="line">
            <a:avLst/>
          </a:prstGeom>
          <a:ln w="19050">
            <a:solidFill>
              <a:schemeClr val="tx1">
                <a:lumMod val="85000"/>
                <a:lumOff val="15000"/>
              </a:schemeClr>
            </a:solidFill>
          </a:ln>
        </p:spPr>
        <p:style>
          <a:lnRef idx="1">
            <a:schemeClr val="accent1"/>
          </a:lnRef>
          <a:fillRef idx="0">
            <a:schemeClr val="accent1"/>
          </a:fillRef>
          <a:effectRef idx="0">
            <a:schemeClr val="accent1"/>
          </a:effectRef>
          <a:fontRef idx="minor">
            <a:schemeClr val="tx1"/>
          </a:fontRef>
        </p:style>
      </p:cxnSp>
      <p:pic>
        <p:nvPicPr>
          <p:cNvPr id="2052" name="Picture 4" descr="RecentMusic - E HYUK New Releases">
            <a:extLst>
              <a:ext uri="{FF2B5EF4-FFF2-40B4-BE49-F238E27FC236}">
                <a16:creationId xmlns:a16="http://schemas.microsoft.com/office/drawing/2014/main" id="{19951503-5218-A18E-1E70-2D1FBF343B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17034" b="-2"/>
          <a:stretch/>
        </p:blipFill>
        <p:spPr bwMode="auto">
          <a:xfrm>
            <a:off x="826054" y="4002157"/>
            <a:ext cx="1965244" cy="2368782"/>
          </a:xfrm>
          <a:prstGeom prst="rect">
            <a:avLst/>
          </a:prstGeom>
          <a:noFill/>
          <a:extLst>
            <a:ext uri="{909E8E84-426E-40DD-AFC4-6F175D3DCCD1}">
              <a14:hiddenFill xmlns:a14="http://schemas.microsoft.com/office/drawing/2010/main">
                <a:solidFill>
                  <a:srgbClr val="FFFFFF"/>
                </a:solidFill>
              </a14:hiddenFill>
            </a:ext>
          </a:extLst>
        </p:spPr>
      </p:pic>
      <p:sp>
        <p:nvSpPr>
          <p:cNvPr id="3" name="Content Placeholder 2">
            <a:extLst>
              <a:ext uri="{FF2B5EF4-FFF2-40B4-BE49-F238E27FC236}">
                <a16:creationId xmlns:a16="http://schemas.microsoft.com/office/drawing/2014/main" id="{BF65C162-6EFF-2F35-30F9-CCBB3FC0DDCC}"/>
              </a:ext>
            </a:extLst>
          </p:cNvPr>
          <p:cNvSpPr>
            <a:spLocks noGrp="1"/>
          </p:cNvSpPr>
          <p:nvPr>
            <p:ph idx="1"/>
          </p:nvPr>
        </p:nvSpPr>
        <p:spPr>
          <a:xfrm>
            <a:off x="5184648" y="3348295"/>
            <a:ext cx="6245352" cy="2347770"/>
          </a:xfrm>
        </p:spPr>
        <p:txBody>
          <a:bodyPr>
            <a:normAutofit/>
          </a:bodyPr>
          <a:lstStyle/>
          <a:p>
            <a:pPr>
              <a:lnSpc>
                <a:spcPct val="100000"/>
              </a:lnSpc>
            </a:pPr>
            <a:r>
              <a:rPr lang="en-US" sz="1100"/>
              <a:t>Rap, R &amp; B, and alternative rock are the most streamed music subgenres under the pop music umbrella based on the tree map.</a:t>
            </a:r>
          </a:p>
          <a:p>
            <a:pPr>
              <a:lnSpc>
                <a:spcPct val="100000"/>
              </a:lnSpc>
            </a:pPr>
            <a:r>
              <a:rPr lang="en-US" sz="1100"/>
              <a:t>The Spotify, Shazam, and Deezer charts tells that rock is ranked the music subgenre that is mostly listened by pop music fans based on the filtered artists.</a:t>
            </a:r>
          </a:p>
          <a:p>
            <a:pPr>
              <a:lnSpc>
                <a:spcPct val="100000"/>
              </a:lnSpc>
            </a:pPr>
            <a:r>
              <a:rPr lang="en-US" sz="1100"/>
              <a:t>When songs are mostly streamed in all music brands like Spotify and Apple Music, it brings an algorithm in the app to recommend all kinds of similar songs that fits the energy, danceability, and the vibe from the song being previously played.</a:t>
            </a:r>
          </a:p>
          <a:p>
            <a:pPr>
              <a:lnSpc>
                <a:spcPct val="100000"/>
              </a:lnSpc>
            </a:pPr>
            <a:r>
              <a:rPr lang="en-US" sz="1100"/>
              <a:t>Another result to share is that when a song is being repeated on apps like Spotify or Apple Music, it collects the user's data and builds an end of the year music review that dives in on what users enjoy to listen when they open the music app and the top music genres or subgenres that are mostly listened.</a:t>
            </a:r>
          </a:p>
        </p:txBody>
      </p:sp>
      <p:sp>
        <p:nvSpPr>
          <p:cNvPr id="2112" name="Freeform 6">
            <a:extLst>
              <a:ext uri="{FF2B5EF4-FFF2-40B4-BE49-F238E27FC236}">
                <a16:creationId xmlns:a16="http://schemas.microsoft.com/office/drawing/2014/main" id="{A101E513-AF74-4E9D-A31F-9966425072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784012" y="5783564"/>
            <a:ext cx="407988" cy="819150"/>
          </a:xfrm>
          <a:custGeom>
            <a:avLst/>
            <a:gdLst/>
            <a:ahLst/>
            <a:cxnLst/>
            <a:rect l="0" t="0" r="r" b="b"/>
            <a:pathLst>
              <a:path w="1799" h="3612">
                <a:moveTo>
                  <a:pt x="1799" y="0"/>
                </a:moveTo>
                <a:lnTo>
                  <a:pt x="1799" y="3612"/>
                </a:lnTo>
                <a:lnTo>
                  <a:pt x="1686" y="3609"/>
                </a:lnTo>
                <a:lnTo>
                  <a:pt x="1574" y="3598"/>
                </a:lnTo>
                <a:lnTo>
                  <a:pt x="1464" y="3581"/>
                </a:lnTo>
                <a:lnTo>
                  <a:pt x="1357" y="3557"/>
                </a:lnTo>
                <a:lnTo>
                  <a:pt x="1251" y="3527"/>
                </a:lnTo>
                <a:lnTo>
                  <a:pt x="1150" y="3490"/>
                </a:lnTo>
                <a:lnTo>
                  <a:pt x="1050" y="3448"/>
                </a:lnTo>
                <a:lnTo>
                  <a:pt x="953" y="3401"/>
                </a:lnTo>
                <a:lnTo>
                  <a:pt x="860" y="3347"/>
                </a:lnTo>
                <a:lnTo>
                  <a:pt x="771" y="3289"/>
                </a:lnTo>
                <a:lnTo>
                  <a:pt x="686" y="3224"/>
                </a:lnTo>
                <a:lnTo>
                  <a:pt x="604" y="3156"/>
                </a:lnTo>
                <a:lnTo>
                  <a:pt x="527" y="3083"/>
                </a:lnTo>
                <a:lnTo>
                  <a:pt x="454" y="3005"/>
                </a:lnTo>
                <a:lnTo>
                  <a:pt x="386" y="2923"/>
                </a:lnTo>
                <a:lnTo>
                  <a:pt x="323" y="2838"/>
                </a:lnTo>
                <a:lnTo>
                  <a:pt x="265" y="2748"/>
                </a:lnTo>
                <a:lnTo>
                  <a:pt x="211" y="2655"/>
                </a:lnTo>
                <a:lnTo>
                  <a:pt x="163" y="2559"/>
                </a:lnTo>
                <a:lnTo>
                  <a:pt x="121" y="2459"/>
                </a:lnTo>
                <a:lnTo>
                  <a:pt x="85" y="2356"/>
                </a:lnTo>
                <a:lnTo>
                  <a:pt x="55" y="2251"/>
                </a:lnTo>
                <a:lnTo>
                  <a:pt x="32" y="2143"/>
                </a:lnTo>
                <a:lnTo>
                  <a:pt x="14" y="2033"/>
                </a:lnTo>
                <a:lnTo>
                  <a:pt x="4" y="1920"/>
                </a:lnTo>
                <a:lnTo>
                  <a:pt x="0" y="1806"/>
                </a:lnTo>
                <a:lnTo>
                  <a:pt x="4" y="1692"/>
                </a:lnTo>
                <a:lnTo>
                  <a:pt x="14" y="1580"/>
                </a:lnTo>
                <a:lnTo>
                  <a:pt x="32" y="1469"/>
                </a:lnTo>
                <a:lnTo>
                  <a:pt x="55" y="1362"/>
                </a:lnTo>
                <a:lnTo>
                  <a:pt x="85" y="1256"/>
                </a:lnTo>
                <a:lnTo>
                  <a:pt x="121" y="1154"/>
                </a:lnTo>
                <a:lnTo>
                  <a:pt x="163" y="1054"/>
                </a:lnTo>
                <a:lnTo>
                  <a:pt x="211" y="958"/>
                </a:lnTo>
                <a:lnTo>
                  <a:pt x="265" y="864"/>
                </a:lnTo>
                <a:lnTo>
                  <a:pt x="323" y="774"/>
                </a:lnTo>
                <a:lnTo>
                  <a:pt x="386" y="689"/>
                </a:lnTo>
                <a:lnTo>
                  <a:pt x="454" y="607"/>
                </a:lnTo>
                <a:lnTo>
                  <a:pt x="527" y="529"/>
                </a:lnTo>
                <a:lnTo>
                  <a:pt x="604" y="456"/>
                </a:lnTo>
                <a:lnTo>
                  <a:pt x="686" y="388"/>
                </a:lnTo>
                <a:lnTo>
                  <a:pt x="771" y="325"/>
                </a:lnTo>
                <a:lnTo>
                  <a:pt x="860" y="266"/>
                </a:lnTo>
                <a:lnTo>
                  <a:pt x="953" y="212"/>
                </a:lnTo>
                <a:lnTo>
                  <a:pt x="1050" y="164"/>
                </a:lnTo>
                <a:lnTo>
                  <a:pt x="1150" y="122"/>
                </a:lnTo>
                <a:lnTo>
                  <a:pt x="1251" y="85"/>
                </a:lnTo>
                <a:lnTo>
                  <a:pt x="1357" y="55"/>
                </a:lnTo>
                <a:lnTo>
                  <a:pt x="1464" y="32"/>
                </a:lnTo>
                <a:lnTo>
                  <a:pt x="1574" y="14"/>
                </a:lnTo>
                <a:lnTo>
                  <a:pt x="1686" y="5"/>
                </a:lnTo>
                <a:lnTo>
                  <a:pt x="1799" y="0"/>
                </a:lnTo>
                <a:close/>
              </a:path>
            </a:pathLst>
          </a:custGeom>
          <a:solidFill>
            <a:schemeClr val="tx1">
              <a:lumMod val="85000"/>
              <a:lumOff val="15000"/>
            </a:schemeClr>
          </a:solidFill>
          <a:ln w="0">
            <a:noFill/>
            <a:prstDash val="solid"/>
            <a:round/>
            <a:headEnd/>
            <a:tailEnd/>
          </a:ln>
        </p:spPr>
        <p:txBody>
          <a:bodyPr anchor="ctr"/>
          <a:lstStyle/>
          <a:p>
            <a:endParaRPr lang="en-US"/>
          </a:p>
        </p:txBody>
      </p:sp>
    </p:spTree>
    <p:extLst>
      <p:ext uri="{BB962C8B-B14F-4D97-AF65-F5344CB8AC3E}">
        <p14:creationId xmlns:p14="http://schemas.microsoft.com/office/powerpoint/2010/main" val="3187831109"/>
      </p:ext>
    </p:extLst>
  </p:cSld>
  <p:clrMapOvr>
    <a:masterClrMapping/>
  </p:clrMapOvr>
  <mc:AlternateContent xmlns:mc="http://schemas.openxmlformats.org/markup-compatibility/2006" xmlns:p14="http://schemas.microsoft.com/office/powerpoint/2010/main">
    <mc:Choice Requires="p14">
      <p:transition spd="slow" p14:dur="1200">
        <p:dissolve/>
      </p:transition>
    </mc:Choice>
    <mc:Fallback xmlns="">
      <p:transition spd="slow">
        <p:dissolv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211C2-BEA3-80EB-5341-4F1E9B0A4525}"/>
              </a:ext>
            </a:extLst>
          </p:cNvPr>
          <p:cNvSpPr>
            <a:spLocks noGrp="1"/>
          </p:cNvSpPr>
          <p:nvPr>
            <p:ph type="title"/>
          </p:nvPr>
        </p:nvSpPr>
        <p:spPr/>
        <p:txBody>
          <a:bodyPr/>
          <a:lstStyle/>
          <a:p>
            <a:r>
              <a:rPr lang="en-US"/>
              <a:t>References:</a:t>
            </a:r>
          </a:p>
        </p:txBody>
      </p:sp>
      <p:sp>
        <p:nvSpPr>
          <p:cNvPr id="3" name="Content Placeholder 2">
            <a:extLst>
              <a:ext uri="{FF2B5EF4-FFF2-40B4-BE49-F238E27FC236}">
                <a16:creationId xmlns:a16="http://schemas.microsoft.com/office/drawing/2014/main" id="{836846F3-1B01-8925-6D8D-EE5D3A944A94}"/>
              </a:ext>
            </a:extLst>
          </p:cNvPr>
          <p:cNvSpPr>
            <a:spLocks noGrp="1"/>
          </p:cNvSpPr>
          <p:nvPr>
            <p:ph idx="1"/>
          </p:nvPr>
        </p:nvSpPr>
        <p:spPr/>
        <p:txBody>
          <a:bodyPr>
            <a:normAutofit/>
          </a:bodyPr>
          <a:lstStyle/>
          <a:p>
            <a:pPr marL="0" marR="0" indent="-457200">
              <a:lnSpc>
                <a:spcPct val="200000"/>
              </a:lnSpc>
              <a:spcBef>
                <a:spcPts val="0"/>
              </a:spcBef>
              <a:spcAft>
                <a:spcPts val="800"/>
              </a:spcAft>
              <a:buNone/>
            </a:pPr>
            <a:r>
              <a:rPr lang="en-US" sz="1800" kern="100" err="1">
                <a:effectLst/>
                <a:latin typeface="Times New Roman" panose="02020603050405020304" pitchFamily="18" charset="0"/>
                <a:ea typeface="Aptos" panose="020B0004020202020204" pitchFamily="34" charset="0"/>
                <a:cs typeface="Times New Roman" panose="02020603050405020304" pitchFamily="18" charset="0"/>
              </a:rPr>
              <a:t>Pequeño</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Antonio, IV. “Spotify Wrapped: Here’s How Spotify Calculates Your Listening Data.” </a:t>
            </a:r>
            <a:r>
              <a:rPr lang="en-US" sz="1800" i="1" kern="100">
                <a:effectLst/>
                <a:latin typeface="Times New Roman" panose="02020603050405020304" pitchFamily="18" charset="0"/>
                <a:ea typeface="Aptos" panose="020B0004020202020204" pitchFamily="34" charset="0"/>
                <a:cs typeface="Times New Roman" panose="02020603050405020304" pitchFamily="18" charset="0"/>
              </a:rPr>
              <a:t>Forbes</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9 May 2024, www.forbes.com/sites/antoniopequenoiv/2023/11/29/spotify-wrapped-heres-how-spotify-calculates-your-listening-data.</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marL="0" marR="0" indent="-457200">
              <a:lnSpc>
                <a:spcPct val="200000"/>
              </a:lnSpc>
              <a:spcBef>
                <a:spcPts val="0"/>
              </a:spcBef>
              <a:spcAft>
                <a:spcPts val="800"/>
              </a:spcAft>
              <a:buNone/>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Sanders, Chaise. “I Tested Apple Music Vs. Spotify, and I Have Thoughts on Which Is *Actually* Better.” </a:t>
            </a:r>
            <a:r>
              <a:rPr lang="en-US" sz="1800" i="1" kern="100">
                <a:effectLst/>
                <a:latin typeface="Times New Roman" panose="02020603050405020304" pitchFamily="18" charset="0"/>
                <a:ea typeface="Aptos" panose="020B0004020202020204" pitchFamily="34" charset="0"/>
                <a:cs typeface="Times New Roman" panose="02020603050405020304" pitchFamily="18" charset="0"/>
              </a:rPr>
              <a:t>Cosmopolitan</a:t>
            </a:r>
            <a:r>
              <a:rPr lang="en-US" sz="1800" kern="100">
                <a:effectLst/>
                <a:latin typeface="Times New Roman" panose="02020603050405020304" pitchFamily="18" charset="0"/>
                <a:ea typeface="Aptos" panose="020B0004020202020204" pitchFamily="34" charset="0"/>
                <a:cs typeface="Times New Roman" panose="02020603050405020304" pitchFamily="18" charset="0"/>
              </a:rPr>
              <a:t>, 4 Sept. 2024, www.cosmopolitan.com/about/a61947850/apple-music-vs-spotify.</a:t>
            </a:r>
            <a:endParaRPr lang="en-US" sz="1800" kern="100">
              <a:effectLst/>
              <a:latin typeface="Aptos" panose="020B0004020202020204" pitchFamily="34" charset="0"/>
              <a:ea typeface="Aptos" panose="020B0004020202020204" pitchFamily="34" charset="0"/>
              <a:cs typeface="Times New Roman" panose="02020603050405020304" pitchFamily="18" charset="0"/>
            </a:endParaRPr>
          </a:p>
          <a:p>
            <a:pPr marL="0" indent="0">
              <a:buNone/>
            </a:pPr>
            <a:endParaRPr lang="en-US"/>
          </a:p>
        </p:txBody>
      </p:sp>
    </p:spTree>
    <p:extLst>
      <p:ext uri="{BB962C8B-B14F-4D97-AF65-F5344CB8AC3E}">
        <p14:creationId xmlns:p14="http://schemas.microsoft.com/office/powerpoint/2010/main" val="2179159676"/>
      </p:ext>
    </p:extLst>
  </p:cSld>
  <p:clrMapOvr>
    <a:masterClrMapping/>
  </p:clrMapOvr>
  <p:transition spd="slow">
    <p:comb/>
  </p:transition>
</p:sld>
</file>

<file path=ppt/theme/theme1.xml><?xml version="1.0" encoding="utf-8"?>
<a:theme xmlns:a="http://schemas.openxmlformats.org/drawingml/2006/main" name="HeadlinesVTI">
  <a:themeElements>
    <a:clrScheme name="AnalogousFromLightSeedLeftStep">
      <a:dk1>
        <a:srgbClr val="000000"/>
      </a:dk1>
      <a:lt1>
        <a:srgbClr val="FFFFFF"/>
      </a:lt1>
      <a:dk2>
        <a:srgbClr val="272441"/>
      </a:dk2>
      <a:lt2>
        <a:srgbClr val="E2E3E8"/>
      </a:lt2>
      <a:accent1>
        <a:srgbClr val="B1A141"/>
      </a:accent1>
      <a:accent2>
        <a:srgbClr val="E98A3F"/>
      </a:accent2>
      <a:accent3>
        <a:srgbClr val="EE716E"/>
      </a:accent3>
      <a:accent4>
        <a:srgbClr val="EB4E8C"/>
      </a:accent4>
      <a:accent5>
        <a:srgbClr val="EE6ED6"/>
      </a:accent5>
      <a:accent6>
        <a:srgbClr val="C74EEB"/>
      </a:accent6>
      <a:hlink>
        <a:srgbClr val="6973AE"/>
      </a:hlink>
      <a:folHlink>
        <a:srgbClr val="7F7F7F"/>
      </a:folHlink>
    </a:clrScheme>
    <a:fontScheme name="Custom 211">
      <a:majorFont>
        <a:latin typeface="Sitka Banner"/>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8000"/>
            <a:satMod val="170000"/>
          </a:schemeClr>
        </a:solidFill>
        <a:gradFill rotWithShape="1">
          <a:gsLst>
            <a:gs pos="0">
              <a:schemeClr val="phClr">
                <a:tint val="93000"/>
                <a:satMod val="16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adlinesVTI" id="{66EB4A02-0C0F-47F1-9F48-4E6882B9F967}" vid="{F3552358-4452-4FDA-9568-4F5DA32F7A60}"/>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505FE3A6A6C174990304D671276E5A2" ma:contentTypeVersion="6" ma:contentTypeDescription="Create a new document." ma:contentTypeScope="" ma:versionID="feef30a61932ea2c87343bdaf2f6f9f3">
  <xsd:schema xmlns:xsd="http://www.w3.org/2001/XMLSchema" xmlns:xs="http://www.w3.org/2001/XMLSchema" xmlns:p="http://schemas.microsoft.com/office/2006/metadata/properties" xmlns:ns3="116b043a-db38-45cb-8091-a10a0191f202" targetNamespace="http://schemas.microsoft.com/office/2006/metadata/properties" ma:root="true" ma:fieldsID="49795df96ade5bdaec79d1b6c03e4c79" ns3:_="">
    <xsd:import namespace="116b043a-db38-45cb-8091-a10a0191f202"/>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element ref="ns3:MediaServiceObjectDetectorVersions" minOccurs="0"/>
                <xsd:element ref="ns3:_ac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6b043a-db38-45cb-8091-a10a0191f202"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_activity" ma:index="13" nillable="true" ma:displayName="_activity" ma:hidden="true" ma:internalName="_activity">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116b043a-db38-45cb-8091-a10a0191f202" xsi:nil="true"/>
  </documentManagement>
</p:properties>
</file>

<file path=customXml/itemProps1.xml><?xml version="1.0" encoding="utf-8"?>
<ds:datastoreItem xmlns:ds="http://schemas.openxmlformats.org/officeDocument/2006/customXml" ds:itemID="{1333F1AB-E6FF-4C83-885A-F8F6AA641FE3}">
  <ds:schemaRefs>
    <ds:schemaRef ds:uri="116b043a-db38-45cb-8091-a10a0191f202"/>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A0255A62-D98F-40E9-86A2-EE5255E3E5F8}">
  <ds:schemaRefs>
    <ds:schemaRef ds:uri="http://schemas.microsoft.com/sharepoint/v3/contenttype/forms"/>
  </ds:schemaRefs>
</ds:datastoreItem>
</file>

<file path=customXml/itemProps3.xml><?xml version="1.0" encoding="utf-8"?>
<ds:datastoreItem xmlns:ds="http://schemas.openxmlformats.org/officeDocument/2006/customXml" ds:itemID="{D69B1F51-4552-4484-81BC-D18444D30E82}">
  <ds:schemaRefs>
    <ds:schemaRef ds:uri="http://www.w3.org/XML/1998/namespace"/>
    <ds:schemaRef ds:uri="http://schemas.microsoft.com/office/2006/documentManagement/types"/>
    <ds:schemaRef ds:uri="http://purl.org/dc/dcmitype/"/>
    <ds:schemaRef ds:uri="http://purl.org/dc/elements/1.1/"/>
    <ds:schemaRef ds:uri="http://schemas.microsoft.com/office/2006/metadata/properties"/>
    <ds:schemaRef ds:uri="http://purl.org/dc/terms/"/>
    <ds:schemaRef ds:uri="http://schemas.openxmlformats.org/package/2006/metadata/core-properties"/>
    <ds:schemaRef ds:uri="http://schemas.microsoft.com/office/infopath/2007/PartnerControls"/>
    <ds:schemaRef ds:uri="116b043a-db38-45cb-8091-a10a0191f202"/>
  </ds:schemaRefs>
</ds:datastoreItem>
</file>

<file path=docMetadata/LabelInfo.xml><?xml version="1.0" encoding="utf-8"?>
<clbl:labelList xmlns:clbl="http://schemas.microsoft.com/office/2020/mipLabelMetadata">
  <clbl:label id="{b0626806-ceff-4393-821e-f9a3e666893b}" enabled="0" method="" siteId="{b0626806-ceff-4393-821e-f9a3e666893b}" removed="1"/>
</clbl:labelList>
</file>

<file path=docProps/app.xml><?xml version="1.0" encoding="utf-8"?>
<Properties xmlns="http://schemas.openxmlformats.org/officeDocument/2006/extended-properties" xmlns:vt="http://schemas.openxmlformats.org/officeDocument/2006/docPropsVTypes">
  <TotalTime>0</TotalTime>
  <Words>798</Words>
  <Application>Microsoft Office PowerPoint</Application>
  <PresentationFormat>Widescreen</PresentationFormat>
  <Paragraphs>36</Paragraphs>
  <Slides>8</Slides>
  <Notes>0</Notes>
  <HiddenSlides>0</HiddenSlides>
  <MMClips>1</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Aptos</vt:lpstr>
      <vt:lpstr>Arial</vt:lpstr>
      <vt:lpstr>Avenir Next LT Pro</vt:lpstr>
      <vt:lpstr>Sitka Banner</vt:lpstr>
      <vt:lpstr>Times New Roman</vt:lpstr>
      <vt:lpstr>HeadlinesVTI</vt:lpstr>
      <vt:lpstr>Pop Music Culture Spotify Data Analysis</vt:lpstr>
      <vt:lpstr>Introduction</vt:lpstr>
      <vt:lpstr>Methodology</vt:lpstr>
      <vt:lpstr>Tree map Analysis</vt:lpstr>
      <vt:lpstr>Bar chart analysis</vt:lpstr>
      <vt:lpstr>Text table analysis</vt:lpstr>
      <vt:lpstr>Conclusion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Alex.Vo001</dc:creator>
  <cp:lastModifiedBy>Alex.Vo001</cp:lastModifiedBy>
  <cp:revision>2</cp:revision>
  <dcterms:created xsi:type="dcterms:W3CDTF">2024-11-28T00:41:54Z</dcterms:created>
  <dcterms:modified xsi:type="dcterms:W3CDTF">2024-12-05T16:46:40Z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0x010100C505FE3A6A6C174990304D671276E5A2</vt:lpwstr>
  </property>
</Properties>
</file>